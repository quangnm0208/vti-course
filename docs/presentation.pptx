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Top ngôn ngữ theo nhu cầu năm tới (số dev)</a:t>
            </a:r>
          </a:p>
        </c:rich>
      </c:tx>
      <c:layout/>
      <c:overlay val="0"/>
    </c:title>
    <c:autoTitleDeleted val="0"/>
    <c:plotArea>
      <c:barChart>
        <c:barDir val="bar"/>
        <c:grouping val="clustered"/>
        <c:ser>
          <c:idx val="0"/>
          <c:order val="0"/>
          <c:tx>
            <c:strRef>
              <c:f>Sheet1!$B$1</c:f>
              <c:strCache>
                <c:ptCount val="1"/>
                <c:pt idx="0">
                  <c:v>Muốn dùng năm tới</c:v>
                </c:pt>
              </c:strCache>
            </c:strRef>
          </c:tx>
          <c:spPr>
            <a:solidFill>
              <a:srgbClr val="2563EB"/>
            </a:solidFill>
          </c:spPr>
          <c:cat>
            <c:strRef>
              <c:f>Sheet1!$A$2:$A$9</c:f>
              <c:strCache>
                <c:ptCount val="8"/>
                <c:pt idx="0">
                  <c:v>Java</c:v>
                </c:pt>
                <c:pt idx="1">
                  <c:v>Bash/Shell/PowerShell</c:v>
                </c:pt>
                <c:pt idx="2">
                  <c:v>C#</c:v>
                </c:pt>
                <c:pt idx="3">
                  <c:v>TypeScript</c:v>
                </c:pt>
                <c:pt idx="4">
                  <c:v>SQL</c:v>
                </c:pt>
                <c:pt idx="5">
                  <c:v>Python</c:v>
                </c:pt>
                <c:pt idx="6">
                  <c:v>HTML/CSS</c:v>
                </c:pt>
                <c:pt idx="7">
                  <c:v>JavaScript</c:v>
                </c:pt>
              </c:strCache>
            </c:strRef>
          </c:cat>
          <c:val>
            <c:numRef>
              <c:f>Sheet1!$B$2:$B$9</c:f>
              <c:numCache>
                <c:formatCode>General</c:formatCode>
                <c:ptCount val="8"/>
                <c:pt idx="0">
                  <c:v>2987</c:v>
                </c:pt>
                <c:pt idx="1">
                  <c:v>3135</c:v>
                </c:pt>
                <c:pt idx="2">
                  <c:v>3639</c:v>
                </c:pt>
                <c:pt idx="3">
                  <c:v>4140</c:v>
                </c:pt>
                <c:pt idx="4">
                  <c:v>5094</c:v>
                </c:pt>
                <c:pt idx="5">
                  <c:v>5309</c:v>
                </c:pt>
                <c:pt idx="6">
                  <c:v>5398</c:v>
                </c:pt>
                <c:pt idx="7">
                  <c:v>6715</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Database: đang dùng vs muốn dùng</a:t>
            </a:r>
          </a:p>
        </c:rich>
      </c:tx>
      <c:layout/>
      <c:overlay val="0"/>
    </c:title>
    <c:autoTitleDeleted val="0"/>
    <c:plotArea>
      <c:barChart>
        <c:barDir val="bar"/>
        <c:grouping val="clustered"/>
        <c:ser>
          <c:idx val="0"/>
          <c:order val="0"/>
          <c:tx>
            <c:strRef>
              <c:f>Sheet1!$B$1</c:f>
              <c:strCache>
                <c:ptCount val="1"/>
                <c:pt idx="0">
                  <c:v>Đang dùng</c:v>
                </c:pt>
              </c:strCache>
            </c:strRef>
          </c:tx>
          <c:spPr>
            <a:solidFill>
              <a:srgbClr val="64748B"/>
            </a:solidFill>
          </c:spPr>
          <c:cat>
            <c:strRef>
              <c:f>Sheet1!$A$2:$A$7</c:f>
              <c:strCache>
                <c:ptCount val="6"/>
                <c:pt idx="0">
                  <c:v>Microsoft SQL Server</c:v>
                </c:pt>
                <c:pt idx="1">
                  <c:v>Elasticsearch</c:v>
                </c:pt>
                <c:pt idx="2">
                  <c:v>MySQL</c:v>
                </c:pt>
                <c:pt idx="3">
                  <c:v>Redis</c:v>
                </c:pt>
                <c:pt idx="4">
                  <c:v>MongoDB</c:v>
                </c:pt>
                <c:pt idx="5">
                  <c:v>PostgreSQL</c:v>
                </c:pt>
              </c:strCache>
            </c:strRef>
          </c:cat>
          <c:val>
            <c:numRef>
              <c:f>Sheet1!$B$2:$B$7</c:f>
              <c:numCache>
                <c:formatCode>General</c:formatCode>
                <c:ptCount val="6"/>
                <c:pt idx="0">
                  <c:v>4170</c:v>
                </c:pt>
                <c:pt idx="1">
                  <c:v>1980</c:v>
                </c:pt>
                <c:pt idx="2">
                  <c:v>5549</c:v>
                </c:pt>
                <c:pt idx="3">
                  <c:v>2536</c:v>
                </c:pt>
                <c:pt idx="4">
                  <c:v>3058</c:v>
                </c:pt>
                <c:pt idx="5">
                  <c:v>4153</c:v>
                </c:pt>
              </c:numCache>
            </c:numRef>
          </c:val>
        </c:ser>
        <c:ser>
          <c:idx val="1"/>
          <c:order val="1"/>
          <c:tx>
            <c:strRef>
              <c:f>Sheet1!$C$1</c:f>
              <c:strCache>
                <c:ptCount val="1"/>
                <c:pt idx="0">
                  <c:v>Muốn dùng</c:v>
                </c:pt>
              </c:strCache>
            </c:strRef>
          </c:tx>
          <c:spPr>
            <a:solidFill>
              <a:srgbClr val="2563EB"/>
            </a:solidFill>
          </c:spPr>
          <c:cat>
            <c:strRef>
              <c:f>Sheet1!$A$2:$A$7</c:f>
              <c:strCache>
                <c:ptCount val="6"/>
                <c:pt idx="0">
                  <c:v>Microsoft SQL Server</c:v>
                </c:pt>
                <c:pt idx="1">
                  <c:v>Elasticsearch</c:v>
                </c:pt>
                <c:pt idx="2">
                  <c:v>MySQL</c:v>
                </c:pt>
                <c:pt idx="3">
                  <c:v>Redis</c:v>
                </c:pt>
                <c:pt idx="4">
                  <c:v>MongoDB</c:v>
                </c:pt>
                <c:pt idx="5">
                  <c:v>PostgreSQL</c:v>
                </c:pt>
              </c:strCache>
            </c:strRef>
          </c:cat>
          <c:val>
            <c:numRef>
              <c:f>Sheet1!$C$2:$C$7</c:f>
              <c:numCache>
                <c:formatCode>General</c:formatCode>
                <c:ptCount val="6"/>
                <c:pt idx="0">
                  <c:v>2747</c:v>
                </c:pt>
                <c:pt idx="1">
                  <c:v>2898</c:v>
                </c:pt>
                <c:pt idx="2">
                  <c:v>3328</c:v>
                </c:pt>
                <c:pt idx="3">
                  <c:v>3385</c:v>
                </c:pt>
                <c:pt idx="4">
                  <c:v>3703</c:v>
                </c:pt>
                <c:pt idx="5">
                  <c:v>4386</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overlay val="0"/>
    </c:legend>
    <c:dispBlanksAs val="gap"/>
  </c:chart>
  <c:txPr>
    <a:bodyPr/>
    <a:lstStyle/>
    <a:p>
      <a:pPr>
        <a:defRPr sz="10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IDE phổ biến nhất</a:t>
            </a:r>
          </a:p>
        </c:rich>
      </c:tx>
      <c:layout/>
      <c:overlay val="0"/>
    </c:title>
    <c:autoTitleDeleted val="0"/>
    <c:plotArea>
      <c:barChart>
        <c:barDir val="bar"/>
        <c:grouping val="clustered"/>
        <c:ser>
          <c:idx val="0"/>
          <c:order val="0"/>
          <c:tx>
            <c:strRef>
              <c:f>Sheet1!$B$1</c:f>
              <c:strCache>
                <c:ptCount val="1"/>
                <c:pt idx="0">
                  <c:v>Số dev</c:v>
                </c:pt>
              </c:strCache>
            </c:strRef>
          </c:tx>
          <c:spPr>
            <a:solidFill>
              <a:srgbClr val="F59E0B"/>
            </a:solidFill>
          </c:spPr>
          <c:cat>
            <c:strRef>
              <c:f>Sheet1!$A$2:$A$7</c:f>
              <c:strCache>
                <c:ptCount val="6"/>
                <c:pt idx="0">
                  <c:v>Android Studio</c:v>
                </c:pt>
                <c:pt idx="1">
                  <c:v>Vim</c:v>
                </c:pt>
                <c:pt idx="2">
                  <c:v>IntelliJ</c:v>
                </c:pt>
                <c:pt idx="3">
                  <c:v>Notepad++</c:v>
                </c:pt>
                <c:pt idx="4">
                  <c:v>Visual Studio</c:v>
                </c:pt>
                <c:pt idx="5">
                  <c:v>Visual Studio Code</c:v>
                </c:pt>
              </c:strCache>
            </c:strRef>
          </c:cat>
          <c:val>
            <c:numRef>
              <c:f>Sheet1!$B$2:$B$7</c:f>
              <c:numCache>
                <c:formatCode>General</c:formatCode>
                <c:ptCount val="6"/>
                <c:pt idx="0">
                  <c:v>2314</c:v>
                </c:pt>
                <c:pt idx="1">
                  <c:v>3382</c:v>
                </c:pt>
                <c:pt idx="2">
                  <c:v>3957</c:v>
                </c:pt>
                <c:pt idx="3">
                  <c:v>4642</c:v>
                </c:pt>
                <c:pt idx="4">
                  <c:v>4732</c:v>
                </c:pt>
                <c:pt idx="5">
                  <c:v>8559</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Thay đổi ròng nhu cầu (muốn − đang dùng)</a:t>
            </a:r>
          </a:p>
        </c:rich>
      </c:tx>
      <c:layout/>
      <c:overlay val="0"/>
    </c:title>
    <c:autoTitleDeleted val="0"/>
    <c:plotArea>
      <c:barChart>
        <c:barDir val="bar"/>
        <c:grouping val="clustered"/>
        <c:ser>
          <c:idx val="0"/>
          <c:order val="0"/>
          <c:tx>
            <c:strRef>
              <c:f>Sheet1!$B$1</c:f>
              <c:strCache>
                <c:ptCount val="1"/>
                <c:pt idx="0">
                  <c:v>Net change</c:v>
                </c:pt>
              </c:strCache>
            </c:strRef>
          </c:tx>
          <c:dPt>
            <c:idx val="0"/>
            <c:spPr>
              <a:solidFill>
                <a:srgbClr val="16A34A"/>
              </a:solidFill>
            </c:spPr>
          </c:dPt>
          <c:dPt>
            <c:idx val="1"/>
            <c:spPr>
              <a:solidFill>
                <a:srgbClr val="16A34A"/>
              </a:solidFill>
            </c:spPr>
          </c:dPt>
          <c:dPt>
            <c:idx val="2"/>
            <c:spPr>
              <a:solidFill>
                <a:srgbClr val="16A34A"/>
              </a:solidFill>
            </c:spPr>
          </c:dPt>
          <c:dPt>
            <c:idx val="3"/>
            <c:spPr>
              <a:solidFill>
                <a:srgbClr val="DC2626"/>
              </a:solidFill>
            </c:spPr>
          </c:dPt>
          <c:dPt>
            <c:idx val="4"/>
            <c:spPr>
              <a:solidFill>
                <a:srgbClr val="DC2626"/>
              </a:solidFill>
            </c:spPr>
          </c:dPt>
          <c:dPt>
            <c:idx val="5"/>
            <c:spPr>
              <a:solidFill>
                <a:srgbClr val="DC2626"/>
              </a:solidFill>
            </c:spPr>
          </c:dPt>
          <c:dPt>
            <c:idx val="6"/>
            <c:spPr>
              <a:solidFill>
                <a:srgbClr val="16A34A"/>
              </a:solidFill>
            </c:spPr>
          </c:dPt>
          <c:dPt>
            <c:idx val="7"/>
            <c:spPr>
              <a:solidFill>
                <a:srgbClr val="DC2626"/>
              </a:solidFill>
            </c:spPr>
          </c:dPt>
          <c:dPt>
            <c:idx val="8"/>
            <c:spPr>
              <a:solidFill>
                <a:srgbClr val="DC2626"/>
              </a:solidFill>
            </c:spPr>
          </c:dPt>
          <c:dPt>
            <c:idx val="9"/>
            <c:spPr>
              <a:solidFill>
                <a:srgbClr val="DC2626"/>
              </a:solidFill>
            </c:spPr>
          </c:dPt>
          <c:cat>
            <c:strRef>
              <c:f>Sheet1!$A$2:$A$11</c:f>
              <c:strCache>
                <c:ptCount val="10"/>
                <c:pt idx="0">
                  <c:v>Kotlin</c:v>
                </c:pt>
                <c:pt idx="1">
                  <c:v>Rust</c:v>
                </c:pt>
                <c:pt idx="2">
                  <c:v>WebAssembly</c:v>
                </c:pt>
                <c:pt idx="3">
                  <c:v>PHP</c:v>
                </c:pt>
                <c:pt idx="4">
                  <c:v>Bash/Shell/PowerShell</c:v>
                </c:pt>
                <c:pt idx="5">
                  <c:v>Java</c:v>
                </c:pt>
                <c:pt idx="6">
                  <c:v>Go</c:v>
                </c:pt>
                <c:pt idx="7">
                  <c:v>JavaScript</c:v>
                </c:pt>
                <c:pt idx="8">
                  <c:v>SQL</c:v>
                </c:pt>
                <c:pt idx="9">
                  <c:v>HTML/CSS</c:v>
                </c:pt>
              </c:strCache>
            </c:strRef>
          </c:cat>
          <c:val>
            <c:numRef>
              <c:f>Sheet1!$B$2:$B$11</c:f>
              <c:numCache>
                <c:formatCode>General</c:formatCode>
                <c:ptCount val="10"/>
                <c:pt idx="0">
                  <c:v>1153</c:v>
                </c:pt>
                <c:pt idx="1">
                  <c:v>1212</c:v>
                </c:pt>
                <c:pt idx="2">
                  <c:v>1281</c:v>
                </c:pt>
                <c:pt idx="3">
                  <c:v>-1475</c:v>
                </c:pt>
                <c:pt idx="4">
                  <c:v>-1559</c:v>
                </c:pt>
                <c:pt idx="5">
                  <c:v>-1569</c:v>
                </c:pt>
                <c:pt idx="6">
                  <c:v>1680</c:v>
                </c:pt>
                <c:pt idx="7">
                  <c:v>-2090</c:v>
                </c:pt>
                <c:pt idx="8">
                  <c:v>-2119</c:v>
                </c:pt>
                <c:pt idx="9">
                  <c:v>-2522</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Lương trung vị theo ngôn ngữ (USD)</a:t>
            </a:r>
          </a:p>
        </c:rich>
      </c:tx>
      <c:layout/>
      <c:overlay val="0"/>
    </c:title>
    <c:autoTitleDeleted val="0"/>
    <c:plotArea>
      <c:barChart>
        <c:barDir val="bar"/>
        <c:grouping val="clustered"/>
        <c:ser>
          <c:idx val="0"/>
          <c:order val="0"/>
          <c:tx>
            <c:strRef>
              <c:f>Sheet1!$B$1</c:f>
              <c:strCache>
                <c:ptCount val="1"/>
                <c:pt idx="0">
                  <c:v>Median salary USD</c:v>
                </c:pt>
              </c:strCache>
            </c:strRef>
          </c:tx>
          <c:spPr>
            <a:solidFill>
              <a:srgbClr val="16A34A"/>
            </a:solidFill>
          </c:spPr>
          <c:cat>
            <c:strRef>
              <c:f>Sheet1!$A$2:$A$11</c:f>
              <c:strCache>
                <c:ptCount val="10"/>
                <c:pt idx="0">
                  <c:v>R</c:v>
                </c:pt>
                <c:pt idx="1">
                  <c:v>Python</c:v>
                </c:pt>
                <c:pt idx="2">
                  <c:v>Objective-C</c:v>
                </c:pt>
                <c:pt idx="3">
                  <c:v>Bash/Shell/PowerShell</c:v>
                </c:pt>
                <c:pt idx="4">
                  <c:v>Rust</c:v>
                </c:pt>
                <c:pt idx="5">
                  <c:v>Elixir</c:v>
                </c:pt>
                <c:pt idx="6">
                  <c:v>Ruby</c:v>
                </c:pt>
                <c:pt idx="7">
                  <c:v>Scala</c:v>
                </c:pt>
                <c:pt idx="8">
                  <c:v>Go</c:v>
                </c:pt>
                <c:pt idx="9">
                  <c:v>Clojure</c:v>
                </c:pt>
              </c:strCache>
            </c:strRef>
          </c:cat>
          <c:val>
            <c:numRef>
              <c:f>Sheet1!$B$2:$B$11</c:f>
              <c:numCache>
                <c:formatCode>General</c:formatCode>
                <c:ptCount val="10"/>
                <c:pt idx="0">
                  <c:v>63016</c:v>
                </c:pt>
                <c:pt idx="1">
                  <c:v>64000</c:v>
                </c:pt>
                <c:pt idx="2">
                  <c:v>64115</c:v>
                </c:pt>
                <c:pt idx="3">
                  <c:v>68745</c:v>
                </c:pt>
                <c:pt idx="4">
                  <c:v>70000</c:v>
                </c:pt>
                <c:pt idx="5">
                  <c:v>71966</c:v>
                </c:pt>
                <c:pt idx="6">
                  <c:v>75000</c:v>
                </c:pt>
                <c:pt idx="7">
                  <c:v>79163</c:v>
                </c:pt>
                <c:pt idx="8">
                  <c:v>80000</c:v>
                </c:pt>
                <c:pt idx="9">
                  <c:v>93404</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Top ngôn ngữ</a:t>
            </a:r>
          </a:p>
        </c:rich>
      </c:tx>
      <c:layout/>
      <c:overlay val="0"/>
    </c:title>
    <c:autoTitleDeleted val="0"/>
    <c:plotArea>
      <c:barChart>
        <c:barDir val="bar"/>
        <c:grouping val="clustered"/>
        <c:ser>
          <c:idx val="0"/>
          <c:order val="0"/>
          <c:tx>
            <c:strRef>
              <c:f>Sheet1!$B$1</c:f>
              <c:strCache>
                <c:ptCount val="1"/>
                <c:pt idx="0">
                  <c:v>Muốn dùng</c:v>
                </c:pt>
              </c:strCache>
            </c:strRef>
          </c:tx>
          <c:spPr>
            <a:solidFill>
              <a:srgbClr val="2563EB"/>
            </a:solidFill>
          </c:spPr>
          <c:cat>
            <c:strRef>
              <c:f>Sheet1!$A$2:$A$8</c:f>
              <c:strCache>
                <c:ptCount val="7"/>
                <c:pt idx="0">
                  <c:v>Bash/Shell/PowerShell</c:v>
                </c:pt>
                <c:pt idx="1">
                  <c:v>C#</c:v>
                </c:pt>
                <c:pt idx="2">
                  <c:v>TypeScript</c:v>
                </c:pt>
                <c:pt idx="3">
                  <c:v>SQL</c:v>
                </c:pt>
                <c:pt idx="4">
                  <c:v>Python</c:v>
                </c:pt>
                <c:pt idx="5">
                  <c:v>HTML/CSS</c:v>
                </c:pt>
                <c:pt idx="6">
                  <c:v>JavaScript</c:v>
                </c:pt>
              </c:strCache>
            </c:strRef>
          </c:cat>
          <c:val>
            <c:numRef>
              <c:f>Sheet1!$B$2:$B$8</c:f>
              <c:numCache>
                <c:formatCode>General</c:formatCode>
                <c:ptCount val="7"/>
                <c:pt idx="0">
                  <c:v>3135</c:v>
                </c:pt>
                <c:pt idx="1">
                  <c:v>3639</c:v>
                </c:pt>
                <c:pt idx="2">
                  <c:v>4140</c:v>
                </c:pt>
                <c:pt idx="3">
                  <c:v>5094</c:v>
                </c:pt>
                <c:pt idx="4">
                  <c:v>5309</c:v>
                </c:pt>
                <c:pt idx="5">
                  <c:v>5398</c:v>
                </c:pt>
                <c:pt idx="6">
                  <c:v>6715</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Top database</a:t>
            </a:r>
          </a:p>
        </c:rich>
      </c:tx>
      <c:layout/>
      <c:overlay val="0"/>
    </c:title>
    <c:autoTitleDeleted val="0"/>
    <c:plotArea>
      <c:barChart>
        <c:barDir val="bar"/>
        <c:grouping val="clustered"/>
        <c:ser>
          <c:idx val="0"/>
          <c:order val="0"/>
          <c:tx>
            <c:strRef>
              <c:f>Sheet1!$B$1</c:f>
              <c:strCache>
                <c:ptCount val="1"/>
                <c:pt idx="0">
                  <c:v>Muốn dùng</c:v>
                </c:pt>
              </c:strCache>
            </c:strRef>
          </c:tx>
          <c:spPr>
            <a:solidFill>
              <a:srgbClr val="16A34A"/>
            </a:solidFill>
          </c:spPr>
          <c:cat>
            <c:strRef>
              <c:f>Sheet1!$A$2:$A$7</c:f>
              <c:strCache>
                <c:ptCount val="6"/>
                <c:pt idx="0">
                  <c:v>Microsoft SQL Server</c:v>
                </c:pt>
                <c:pt idx="1">
                  <c:v>Elasticsearch</c:v>
                </c:pt>
                <c:pt idx="2">
                  <c:v>MySQL</c:v>
                </c:pt>
                <c:pt idx="3">
                  <c:v>Redis</c:v>
                </c:pt>
                <c:pt idx="4">
                  <c:v>MongoDB</c:v>
                </c:pt>
                <c:pt idx="5">
                  <c:v>PostgreSQL</c:v>
                </c:pt>
              </c:strCache>
            </c:strRef>
          </c:cat>
          <c:val>
            <c:numRef>
              <c:f>Sheet1!$B$2:$B$7</c:f>
              <c:numCache>
                <c:formatCode>General</c:formatCode>
                <c:ptCount val="6"/>
                <c:pt idx="0">
                  <c:v>2747</c:v>
                </c:pt>
                <c:pt idx="1">
                  <c:v>2898</c:v>
                </c:pt>
                <c:pt idx="2">
                  <c:v>3328</c:v>
                </c:pt>
                <c:pt idx="3">
                  <c:v>3385</c:v>
                </c:pt>
                <c:pt idx="4">
                  <c:v>3703</c:v>
                </c:pt>
                <c:pt idx="5">
                  <c:v>4386</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a:solidFill>
                  <a:srgbClr val="0F172A"/>
                </a:solidFill>
              </a:rPr>
              <a:t>Ưu tiên tuyển dụng theo vai trò (điểm)</a:t>
            </a:r>
          </a:p>
        </c:rich>
      </c:tx>
      <c:layout/>
      <c:overlay val="0"/>
    </c:title>
    <c:autoTitleDeleted val="0"/>
    <c:plotArea>
      <c:barChart>
        <c:barDir val="bar"/>
        <c:grouping val="clustered"/>
        <c:ser>
          <c:idx val="0"/>
          <c:order val="0"/>
          <c:tx>
            <c:strRef>
              <c:f>Sheet1!$B$1</c:f>
              <c:strCache>
                <c:ptCount val="1"/>
                <c:pt idx="0">
                  <c:v>Điểm ưu tiên tuyển dụng</c:v>
                </c:pt>
              </c:strCache>
            </c:strRef>
          </c:tx>
          <c:dPt>
            <c:idx val="0"/>
            <c:spPr>
              <a:solidFill>
                <a:srgbClr val="64748B"/>
              </a:solidFill>
            </c:spPr>
          </c:dPt>
          <c:dPt>
            <c:idx val="1"/>
            <c:spPr>
              <a:solidFill>
                <a:srgbClr val="64748B"/>
              </a:solidFill>
            </c:spPr>
          </c:dPt>
          <c:dPt>
            <c:idx val="2"/>
            <c:spPr>
              <a:solidFill>
                <a:srgbClr val="64748B"/>
              </a:solidFill>
            </c:spPr>
          </c:dPt>
          <c:dPt>
            <c:idx val="3"/>
            <c:spPr>
              <a:solidFill>
                <a:srgbClr val="64748B"/>
              </a:solidFill>
            </c:spPr>
          </c:dPt>
          <c:dPt>
            <c:idx val="4"/>
            <c:spPr>
              <a:solidFill>
                <a:srgbClr val="F59E0B"/>
              </a:solidFill>
            </c:spPr>
          </c:dPt>
          <c:dPt>
            <c:idx val="5"/>
            <c:spPr>
              <a:solidFill>
                <a:srgbClr val="F59E0B"/>
              </a:solidFill>
            </c:spPr>
          </c:dPt>
          <c:dPt>
            <c:idx val="6"/>
            <c:spPr>
              <a:solidFill>
                <a:srgbClr val="F59E0B"/>
              </a:solidFill>
            </c:spPr>
          </c:dPt>
          <c:dPt>
            <c:idx val="7"/>
            <c:spPr>
              <a:solidFill>
                <a:srgbClr val="DC2626"/>
              </a:solidFill>
            </c:spPr>
          </c:dPt>
          <c:cat>
            <c:strRef>
              <c:f>Sheet1!$A$2:$A$9</c:f>
              <c:strCache>
                <c:ptCount val="8"/>
                <c:pt idx="0">
                  <c:v>Mobile Developer</c:v>
                </c:pt>
                <c:pt idx="1">
                  <c:v>Data Scientist / ML</c:v>
                </c:pt>
                <c:pt idx="2">
                  <c:v>Data/BI Analyst</c:v>
                </c:pt>
                <c:pt idx="3">
                  <c:v>Product/BA</c:v>
                </c:pt>
                <c:pt idx="4">
                  <c:v>Front-end Developer</c:v>
                </c:pt>
                <c:pt idx="5">
                  <c:v>DevOps Specialist</c:v>
                </c:pt>
                <c:pt idx="6">
                  <c:v>Back-end Developer</c:v>
                </c:pt>
                <c:pt idx="7">
                  <c:v>Full-stack Developer</c:v>
                </c:pt>
              </c:strCache>
            </c:strRef>
          </c:cat>
          <c:val>
            <c:numRef>
              <c:f>Sheet1!$B$2:$B$9</c:f>
              <c:numCache>
                <c:formatCode>General</c:formatCode>
                <c:ptCount val="8"/>
                <c:pt idx="0">
                  <c:v>23.5</c:v>
                </c:pt>
                <c:pt idx="1">
                  <c:v>28.9</c:v>
                </c:pt>
                <c:pt idx="2">
                  <c:v>30.8</c:v>
                </c:pt>
                <c:pt idx="3">
                  <c:v>33.3</c:v>
                </c:pt>
                <c:pt idx="4">
                  <c:v>45.2</c:v>
                </c:pt>
                <c:pt idx="5">
                  <c:v>46.1</c:v>
                </c:pt>
                <c:pt idx="6">
                  <c:v>65.9</c:v>
                </c:pt>
                <c:pt idx="7">
                  <c:v>72.9</c:v>
                </c:pt>
              </c:numCache>
            </c:numRef>
          </c:val>
        </c:ser>
        <c:gapWidth val="60"/>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0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chào hội đồng. Em trình bày dự án 'A Day in the Life of a Data Analyst'. Vào vai Chuyên viên Phân tích Dữ liệu tại VTI Academy, em phân tích kỹ năng IT thị trường đang cần nhất để giúp trung tâm cập nhật chương trình đào tạo. Câu hỏi cốt lõi: Đào tạo gì để học viên ra trường có việc ngay?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thu thập từ 3 nguồn để đảm bảo đa dạng theo đề bài. Điểm khác biệt: em không chỉ làm 1 lần mà xây hệ thống tự động trên GitHub Actions — mỗi sáng 7h tự cào ItViec, làm sạch, kiểm tra chất lượng và commit kết quả. Dữ liệu luôn cập nhật. Về làm sạch: chuẩn hóa tên cột snake_case, xử lý thiếu, chuẩn hóa tên skill, và winsorize lương để trung vị không bị méo bởi giá trị bất thường.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JavaScript dẫn đầu — không bất ngờ với web. Nhưng điểm quan trọng: trong top 4, chỉ Python còn TĂNG. JavaScript, SQL, HTML/CSS đều giảm net vì đã bão hòa. SQL #3 khẳng định kỹ năng database là nền tảng. Bài học HR: phân biệt rõ kỹ năng nền với kỹ năng tăng trưởng.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PostgreSQL vượt MySQL ở khảo sát toàn cầu và vẫn tăng trưởng dương, trong khi MySQL giảm 40%. MongoDB và Redis là lớp NoSQL bổ trợ đang lên. Về IDE, VS Code chiếm ~55% — vượt xa phần còn lại. Kết luận: VTI nên lấy PostgreSQL và VS Code làm chuẩn chung khi onboarding.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phân tích thống kê quan trọng nhất. Em so sánh ngôn ngữ đang dùng với ngôn ngữ muốn dùng năm sau, tính net-change và growth %. Rust, Kotlin, Go, TypeScript tăng rất mạnh — đây là tương lai. PHP, Java, Bash đang co lại. Insight chiến lược: không mở thêm PHP, nên đầu tư Rust/Go/TypeScript.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Lựa chọn tốt nhất nằm ở giao của 3 tín hiệu: lương tốt, tăng trưởng cao, đủ nhu cầu. Go nổi bật: lương cao nhất nhóm phổ biến ($80k) và tăng 148%. Rust lương tốt và tăng bùng nổ. TypeScript là lựa chọn mass-market. Về phương pháp: lương tự khai nên em dùng trung vị kèm cỡ mẫu và winsorize.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insight được trực quan hóa trong Power BI. Trang 1 — Overview: 5 thẻ KPI, 2 biểu đồ chính, 2 bộ lọc tương tác (Country, Signal). Đáp ứng đủ yêu cầu tối thiểu của đề bài. Bản HTML tương tác kèm theo trong powerbi/dashboard.html cho phép demo nhanh không cần cài Power BI.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2 — Deep Dive: điểm ưu tiên tuyển dụng quy từ nhu cầu + lương + tăng trưởng. Full-stack là Priority 1. Heatmap IDE theo vai trò và drill-through từ skill sang danh sách công ty ItViec đang tuyển biến dashboard thành công cụ định hướng cho học viên.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kiến nghị theo 3 tầm thời gian. Ngắn hạn: mở Cloud/DevOps + Python vì lương cao nhất và cung còn ít. Trung hạn: đưa TypeScript/Go/Kotlin/Rust vào nâng cao để đón đầu. Dài hạn: chuẩn hóa nền PostgreSQL/VS Code/Git và duy trì pipeline scraping để tái phân tích mỗi quý — biến phân tích 1 lần thành năng lực phân tích liên tục.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 xin kết thúc phần trình bày. Cảm ơn hội đồng đã lắng nghe. Em sẵn sàng trả lời câu hỏi và demo code Python, file SQL hoặc dashboard trực tiếp trên repo.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chart" Target="../charts/chart7.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2788920"/>
            <a:ext cx="12191695" cy="635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1280160"/>
          </a:xfrm>
          <a:prstGeom prst="rect">
            <a:avLst/>
          </a:prstGeom>
          <a:noFill/>
        </p:spPr>
        <p:txBody>
          <a:bodyPr wrap="square" anchor="t">
            <a:spAutoFit/>
          </a:bodyPr>
          <a:lstStyle/>
          <a:p>
            <a:pPr algn="l"/>
            <a:r>
              <a:rPr sz="4400" b="1">
                <a:solidFill>
                  <a:srgbClr val="FFFFFF"/>
                </a:solidFill>
                <a:latin typeface="Segoe UI"/>
              </a:rPr>
              <a:t>A Day in the Life of a Data Analyst</a:t>
            </a:r>
          </a:p>
        </p:txBody>
      </p:sp>
      <p:sp>
        <p:nvSpPr>
          <p:cNvPr id="4" name="TextBox 3"/>
          <p:cNvSpPr txBox="1"/>
          <p:nvPr/>
        </p:nvSpPr>
        <p:spPr>
          <a:xfrm>
            <a:off x="731520" y="2971800"/>
            <a:ext cx="10698480" cy="914400"/>
          </a:xfrm>
          <a:prstGeom prst="rect">
            <a:avLst/>
          </a:prstGeom>
          <a:noFill/>
        </p:spPr>
        <p:txBody>
          <a:bodyPr wrap="square" anchor="t">
            <a:spAutoFit/>
          </a:bodyPr>
          <a:lstStyle/>
          <a:p>
            <a:pPr algn="l"/>
            <a:r>
              <a:rPr sz="2400" b="0">
                <a:solidFill>
                  <a:srgbClr val="CBD5E1"/>
                </a:solidFill>
                <a:latin typeface="Segoe UI"/>
              </a:rPr>
              <a:t>Phân tích Kỹ năng Công nghệ Thông tin đang được thị trường yêu cầu nhất</a:t>
            </a:r>
          </a:p>
        </p:txBody>
      </p:sp>
      <p:sp>
        <p:nvSpPr>
          <p:cNvPr id="5" name="TextBox 4"/>
          <p:cNvSpPr txBox="1"/>
          <p:nvPr/>
        </p:nvSpPr>
        <p:spPr>
          <a:xfrm>
            <a:off x="731520" y="4206240"/>
            <a:ext cx="10698480" cy="1463040"/>
          </a:xfrm>
          <a:prstGeom prst="rect">
            <a:avLst/>
          </a:prstGeom>
          <a:noFill/>
        </p:spPr>
        <p:txBody>
          <a:bodyPr wrap="square" anchor="t">
            <a:spAutoFit/>
          </a:bodyPr>
          <a:lstStyle/>
          <a:p>
            <a:pPr algn="l"/>
            <a:r>
              <a:rPr sz="1800" b="1">
                <a:solidFill>
                  <a:srgbClr val="F59E0B"/>
                </a:solidFill>
                <a:latin typeface="Segoe UI"/>
              </a:rPr>
              <a:t>VTI Academy</a:t>
            </a:r>
          </a:p>
          <a:p>
            <a:pPr algn="l"/>
            <a:r>
              <a:rPr sz="1600" b="0">
                <a:solidFill>
                  <a:srgbClr val="FFFFFF"/>
                </a:solidFill>
                <a:latin typeface="Segoe UI"/>
              </a:rPr>
              <a:t>Chuyên viên Phân tích Dữ liệu  ·  Công cụ: Python · SQL · Power BI</a:t>
            </a:r>
          </a:p>
          <a:p>
            <a:pPr algn="l"/>
            <a:r>
              <a:rPr sz="1400" b="0">
                <a:solidFill>
                  <a:srgbClr val="94A3B8"/>
                </a:solidFill>
                <a:latin typeface="Segoe UI"/>
              </a:rPr>
              <a:t>Nguồn dữ liệu: Stack Overflow Survey (11.552 dev / 135 quốc gia) + ItViec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02  </a:t>
            </a:r>
            <a:r>
              <a:rPr sz="2600" b="1">
                <a:solidFill>
                  <a:srgbClr val="FFFFFF"/>
                </a:solidFill>
                <a:latin typeface="Segoe UI"/>
              </a:rPr>
              <a:t>Phương pháp: Thu thập &amp; Làm sạch dữ liệu</a:t>
            </a:r>
          </a:p>
        </p:txBody>
      </p:sp>
      <p:sp>
        <p:nvSpPr>
          <p:cNvPr id="5" name="TextBox 4"/>
          <p:cNvSpPr txBox="1"/>
          <p:nvPr/>
        </p:nvSpPr>
        <p:spPr>
          <a:xfrm>
            <a:off x="10607040" y="146304"/>
            <a:ext cx="1371600" cy="731520"/>
          </a:xfrm>
          <a:prstGeom prst="rect">
            <a:avLst/>
          </a:prstGeom>
          <a:noFill/>
        </p:spPr>
        <p:txBody>
          <a:bodyPr wrap="square" anchor="ctr">
            <a:spAutoFit/>
          </a:bodyPr>
          <a:lstStyle/>
          <a:p>
            <a:pPr algn="r"/>
            <a:r>
              <a:rPr sz="1600" b="1">
                <a:solidFill>
                  <a:srgbClr val="F59E0B"/>
                </a:solidFill>
                <a:latin typeface="Segoe UI"/>
              </a:rPr>
              <a:t>20%</a:t>
            </a:r>
          </a:p>
        </p:txBody>
      </p:sp>
      <p:sp>
        <p:nvSpPr>
          <p:cNvPr id="6" name="Rectangle 5"/>
          <p:cNvSpPr/>
          <p:nvPr/>
        </p:nvSpPr>
        <p:spPr>
          <a:xfrm>
            <a:off x="457200" y="1371600"/>
            <a:ext cx="3657600" cy="155448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109728" cy="155448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08760"/>
            <a:ext cx="3291840" cy="1280160"/>
          </a:xfrm>
          <a:prstGeom prst="rect">
            <a:avLst/>
          </a:prstGeom>
          <a:noFill/>
        </p:spPr>
        <p:txBody>
          <a:bodyPr wrap="square" anchor="t">
            <a:spAutoFit/>
          </a:bodyPr>
          <a:lstStyle/>
          <a:p>
            <a:pPr algn="l"/>
            <a:r>
              <a:rPr sz="1600" b="1">
                <a:solidFill>
                  <a:srgbClr val="0F172A"/>
                </a:solidFill>
                <a:latin typeface="Segoe UI"/>
              </a:rPr>
              <a:t>Stack Overflow Survey</a:t>
            </a:r>
          </a:p>
          <a:p>
            <a:pPr algn="l"/>
            <a:r>
              <a:rPr sz="600" b="0">
                <a:solidFill>
                  <a:srgbClr val="0F172A"/>
                </a:solidFill>
                <a:latin typeface="Segoe UI"/>
              </a:rPr>
              <a:t/>
            </a:r>
          </a:p>
          <a:p>
            <a:pPr algn="l"/>
            <a:r>
              <a:rPr sz="1200" b="0">
                <a:solidFill>
                  <a:srgbClr val="64748B"/>
                </a:solidFill>
                <a:latin typeface="Segoe UI"/>
              </a:rPr>
              <a:t>CSV · 11.552 dev · 90 cột · 135 quốc gia</a:t>
            </a:r>
          </a:p>
        </p:txBody>
      </p:sp>
      <p:sp>
        <p:nvSpPr>
          <p:cNvPr id="9" name="Rectangle 8"/>
          <p:cNvSpPr/>
          <p:nvPr/>
        </p:nvSpPr>
        <p:spPr>
          <a:xfrm>
            <a:off x="4343400" y="1371600"/>
            <a:ext cx="3657600" cy="1554480"/>
          </a:xfrm>
          <a:prstGeom prst="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371600"/>
            <a:ext cx="109728" cy="155448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508760"/>
            <a:ext cx="3291840" cy="1280160"/>
          </a:xfrm>
          <a:prstGeom prst="rect">
            <a:avLst/>
          </a:prstGeom>
          <a:noFill/>
        </p:spPr>
        <p:txBody>
          <a:bodyPr wrap="square" anchor="t">
            <a:spAutoFit/>
          </a:bodyPr>
          <a:lstStyle/>
          <a:p>
            <a:pPr algn="l"/>
            <a:r>
              <a:rPr sz="1600" b="1">
                <a:solidFill>
                  <a:srgbClr val="0F172A"/>
                </a:solidFill>
                <a:latin typeface="Segoe UI"/>
              </a:rPr>
              <a:t>ItViec Job Postings</a:t>
            </a:r>
          </a:p>
          <a:p>
            <a:pPr algn="l"/>
            <a:r>
              <a:rPr sz="600" b="0">
                <a:solidFill>
                  <a:srgbClr val="0F172A"/>
                </a:solidFill>
                <a:latin typeface="Segoe UI"/>
              </a:rPr>
              <a:t/>
            </a:r>
          </a:p>
          <a:p>
            <a:pPr algn="l"/>
            <a:r>
              <a:rPr sz="1200" b="0">
                <a:solidFill>
                  <a:srgbClr val="64748B"/>
                </a:solidFill>
                <a:latin typeface="Segoe UI"/>
              </a:rPr>
              <a:t>Web scraping (Playwright) · tin tuyển dụng IT VN</a:t>
            </a:r>
          </a:p>
        </p:txBody>
      </p:sp>
      <p:sp>
        <p:nvSpPr>
          <p:cNvPr id="12" name="Rectangle 11"/>
          <p:cNvSpPr/>
          <p:nvPr/>
        </p:nvSpPr>
        <p:spPr>
          <a:xfrm>
            <a:off x="8229600" y="1371600"/>
            <a:ext cx="3657600" cy="155448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371600"/>
            <a:ext cx="109728" cy="15544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508760"/>
            <a:ext cx="3291840" cy="1280160"/>
          </a:xfrm>
          <a:prstGeom prst="rect">
            <a:avLst/>
          </a:prstGeom>
          <a:noFill/>
        </p:spPr>
        <p:txBody>
          <a:bodyPr wrap="square" anchor="t">
            <a:spAutoFit/>
          </a:bodyPr>
          <a:lstStyle/>
          <a:p>
            <a:pPr algn="l"/>
            <a:r>
              <a:rPr sz="1600" b="1">
                <a:solidFill>
                  <a:srgbClr val="0F172A"/>
                </a:solidFill>
                <a:latin typeface="Segoe UI"/>
              </a:rPr>
              <a:t>Training Portals</a:t>
            </a:r>
          </a:p>
          <a:p>
            <a:pPr algn="l"/>
            <a:r>
              <a:rPr sz="600" b="0">
                <a:solidFill>
                  <a:srgbClr val="0F172A"/>
                </a:solidFill>
                <a:latin typeface="Segoe UI"/>
              </a:rPr>
              <a:t/>
            </a:r>
          </a:p>
          <a:p>
            <a:pPr algn="l"/>
            <a:r>
              <a:rPr sz="1200" b="0">
                <a:solidFill>
                  <a:srgbClr val="64748B"/>
                </a:solidFill>
                <a:latin typeface="Segoe UI"/>
              </a:rPr>
              <a:t>API khóa học (Coursera/Udemy) — đối chiếu cung đào tạo</a:t>
            </a:r>
          </a:p>
        </p:txBody>
      </p:sp>
      <p:sp>
        <p:nvSpPr>
          <p:cNvPr id="15" name="TextBox 14"/>
          <p:cNvSpPr txBox="1"/>
          <p:nvPr/>
        </p:nvSpPr>
        <p:spPr>
          <a:xfrm>
            <a:off x="457200" y="3200400"/>
            <a:ext cx="10972800" cy="457200"/>
          </a:xfrm>
          <a:prstGeom prst="rect">
            <a:avLst/>
          </a:prstGeom>
          <a:noFill/>
        </p:spPr>
        <p:txBody>
          <a:bodyPr wrap="square" anchor="t">
            <a:spAutoFit/>
          </a:bodyPr>
          <a:lstStyle/>
          <a:p>
            <a:pPr algn="l"/>
            <a:r>
              <a:rPr sz="1800" b="1">
                <a:solidFill>
                  <a:srgbClr val="1E3A8A"/>
                </a:solidFill>
                <a:latin typeface="Segoe UI"/>
              </a:rPr>
              <a:t>Pipeline kỹ thuật</a:t>
            </a:r>
          </a:p>
        </p:txBody>
      </p:sp>
      <p:sp>
        <p:nvSpPr>
          <p:cNvPr id="16" name="Rectangle 15"/>
          <p:cNvSpPr/>
          <p:nvPr/>
        </p:nvSpPr>
        <p:spPr>
          <a:xfrm>
            <a:off x="457200" y="3749039"/>
            <a:ext cx="246888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840480"/>
            <a:ext cx="2468880" cy="777240"/>
          </a:xfrm>
          <a:prstGeom prst="rect">
            <a:avLst/>
          </a:prstGeom>
          <a:noFill/>
        </p:spPr>
        <p:txBody>
          <a:bodyPr wrap="square" anchor="ctr">
            <a:spAutoFit/>
          </a:bodyPr>
          <a:lstStyle/>
          <a:p>
            <a:pPr algn="ctr"/>
            <a:r>
              <a:rPr sz="1500" b="1">
                <a:solidFill>
                  <a:srgbClr val="FFFFFF"/>
                </a:solidFill>
                <a:latin typeface="Segoe UI"/>
              </a:rPr>
              <a:t>Scrape</a:t>
            </a:r>
          </a:p>
          <a:p>
            <a:pPr algn="ctr"/>
            <a:r>
              <a:rPr sz="1100" b="0">
                <a:solidFill>
                  <a:srgbClr val="CBD5E1"/>
                </a:solidFill>
                <a:latin typeface="Segoe UI"/>
              </a:rPr>
              <a:t>(Playwright)</a:t>
            </a:r>
          </a:p>
        </p:txBody>
      </p:sp>
      <p:sp>
        <p:nvSpPr>
          <p:cNvPr id="18" name="TextBox 17"/>
          <p:cNvSpPr txBox="1"/>
          <p:nvPr/>
        </p:nvSpPr>
        <p:spPr>
          <a:xfrm>
            <a:off x="2926080" y="3840480"/>
            <a:ext cx="411480" cy="777240"/>
          </a:xfrm>
          <a:prstGeom prst="rect">
            <a:avLst/>
          </a:prstGeom>
          <a:noFill/>
        </p:spPr>
        <p:txBody>
          <a:bodyPr wrap="square" anchor="ctr">
            <a:spAutoFit/>
          </a:bodyPr>
          <a:lstStyle/>
          <a:p>
            <a:pPr algn="ctr"/>
            <a:r>
              <a:rPr sz="2600" b="1">
                <a:solidFill>
                  <a:srgbClr val="F59E0B"/>
                </a:solidFill>
                <a:latin typeface="Segoe UI"/>
              </a:rPr>
              <a:t>→</a:t>
            </a:r>
          </a:p>
        </p:txBody>
      </p:sp>
      <p:sp>
        <p:nvSpPr>
          <p:cNvPr id="19" name="Rectangle 18"/>
          <p:cNvSpPr/>
          <p:nvPr/>
        </p:nvSpPr>
        <p:spPr>
          <a:xfrm>
            <a:off x="3337560" y="3749039"/>
            <a:ext cx="246888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37560" y="3840480"/>
            <a:ext cx="2468880" cy="777240"/>
          </a:xfrm>
          <a:prstGeom prst="rect">
            <a:avLst/>
          </a:prstGeom>
          <a:noFill/>
        </p:spPr>
        <p:txBody>
          <a:bodyPr wrap="square" anchor="ctr">
            <a:spAutoFit/>
          </a:bodyPr>
          <a:lstStyle/>
          <a:p>
            <a:pPr algn="ctr"/>
            <a:r>
              <a:rPr sz="1500" b="1">
                <a:solidFill>
                  <a:srgbClr val="FFFFFF"/>
                </a:solidFill>
                <a:latin typeface="Segoe UI"/>
              </a:rPr>
              <a:t>Wrangle</a:t>
            </a:r>
          </a:p>
          <a:p>
            <a:pPr algn="ctr"/>
            <a:r>
              <a:rPr sz="1100" b="0">
                <a:solidFill>
                  <a:srgbClr val="CBD5E1"/>
                </a:solidFill>
                <a:latin typeface="Segoe UI"/>
              </a:rPr>
              <a:t>(Pandas)</a:t>
            </a:r>
          </a:p>
        </p:txBody>
      </p:sp>
      <p:sp>
        <p:nvSpPr>
          <p:cNvPr id="21" name="TextBox 20"/>
          <p:cNvSpPr txBox="1"/>
          <p:nvPr/>
        </p:nvSpPr>
        <p:spPr>
          <a:xfrm>
            <a:off x="5806440" y="3840480"/>
            <a:ext cx="411480" cy="777240"/>
          </a:xfrm>
          <a:prstGeom prst="rect">
            <a:avLst/>
          </a:prstGeom>
          <a:noFill/>
        </p:spPr>
        <p:txBody>
          <a:bodyPr wrap="square" anchor="ctr">
            <a:spAutoFit/>
          </a:bodyPr>
          <a:lstStyle/>
          <a:p>
            <a:pPr algn="ctr"/>
            <a:r>
              <a:rPr sz="2600" b="1">
                <a:solidFill>
                  <a:srgbClr val="F59E0B"/>
                </a:solidFill>
                <a:latin typeface="Segoe UI"/>
              </a:rPr>
              <a:t>→</a:t>
            </a:r>
          </a:p>
        </p:txBody>
      </p:sp>
      <p:sp>
        <p:nvSpPr>
          <p:cNvPr id="22" name="Rectangle 21"/>
          <p:cNvSpPr/>
          <p:nvPr/>
        </p:nvSpPr>
        <p:spPr>
          <a:xfrm>
            <a:off x="6217920" y="3749039"/>
            <a:ext cx="246888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3840480"/>
            <a:ext cx="2468880" cy="777240"/>
          </a:xfrm>
          <a:prstGeom prst="rect">
            <a:avLst/>
          </a:prstGeom>
          <a:noFill/>
        </p:spPr>
        <p:txBody>
          <a:bodyPr wrap="square" anchor="ctr">
            <a:spAutoFit/>
          </a:bodyPr>
          <a:lstStyle/>
          <a:p>
            <a:pPr algn="ctr"/>
            <a:r>
              <a:rPr sz="1500" b="1">
                <a:solidFill>
                  <a:srgbClr val="FFFFFF"/>
                </a:solidFill>
                <a:latin typeface="Segoe UI"/>
              </a:rPr>
              <a:t>Store</a:t>
            </a:r>
          </a:p>
          <a:p>
            <a:pPr algn="ctr"/>
            <a:r>
              <a:rPr sz="1100" b="0">
                <a:solidFill>
                  <a:srgbClr val="CBD5E1"/>
                </a:solidFill>
                <a:latin typeface="Segoe UI"/>
              </a:rPr>
              <a:t>(SQLite + SQL)</a:t>
            </a:r>
          </a:p>
        </p:txBody>
      </p:sp>
      <p:sp>
        <p:nvSpPr>
          <p:cNvPr id="24" name="TextBox 23"/>
          <p:cNvSpPr txBox="1"/>
          <p:nvPr/>
        </p:nvSpPr>
        <p:spPr>
          <a:xfrm>
            <a:off x="8686800" y="3840480"/>
            <a:ext cx="411480" cy="777240"/>
          </a:xfrm>
          <a:prstGeom prst="rect">
            <a:avLst/>
          </a:prstGeom>
          <a:noFill/>
        </p:spPr>
        <p:txBody>
          <a:bodyPr wrap="square" anchor="ctr">
            <a:spAutoFit/>
          </a:bodyPr>
          <a:lstStyle/>
          <a:p>
            <a:pPr algn="ctr"/>
            <a:r>
              <a:rPr sz="2600" b="1">
                <a:solidFill>
                  <a:srgbClr val="F59E0B"/>
                </a:solidFill>
                <a:latin typeface="Segoe UI"/>
              </a:rPr>
              <a:t>→</a:t>
            </a:r>
          </a:p>
        </p:txBody>
      </p:sp>
      <p:sp>
        <p:nvSpPr>
          <p:cNvPr id="25" name="Rectangle 24"/>
          <p:cNvSpPr/>
          <p:nvPr/>
        </p:nvSpPr>
        <p:spPr>
          <a:xfrm>
            <a:off x="9098280" y="3749039"/>
            <a:ext cx="2468880" cy="91440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280" y="3840480"/>
            <a:ext cx="2468880" cy="777240"/>
          </a:xfrm>
          <a:prstGeom prst="rect">
            <a:avLst/>
          </a:prstGeom>
          <a:noFill/>
        </p:spPr>
        <p:txBody>
          <a:bodyPr wrap="square" anchor="ctr">
            <a:spAutoFit/>
          </a:bodyPr>
          <a:lstStyle/>
          <a:p>
            <a:pPr algn="ctr"/>
            <a:r>
              <a:rPr sz="1500" b="1">
                <a:solidFill>
                  <a:srgbClr val="FFFFFF"/>
                </a:solidFill>
                <a:latin typeface="Segoe UI"/>
              </a:rPr>
              <a:t>Visualize</a:t>
            </a:r>
          </a:p>
          <a:p>
            <a:pPr algn="ctr"/>
            <a:r>
              <a:rPr sz="1100" b="0">
                <a:solidFill>
                  <a:srgbClr val="CBD5E1"/>
                </a:solidFill>
                <a:latin typeface="Segoe UI"/>
              </a:rPr>
              <a:t>(Power BI)</a:t>
            </a:r>
          </a:p>
        </p:txBody>
      </p:sp>
      <p:sp>
        <p:nvSpPr>
          <p:cNvPr id="27" name="Rectangle 26"/>
          <p:cNvSpPr/>
          <p:nvPr/>
        </p:nvSpPr>
        <p:spPr>
          <a:xfrm>
            <a:off x="457200" y="4983480"/>
            <a:ext cx="11247120" cy="1005840"/>
          </a:xfrm>
          <a:prstGeom prst="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074920"/>
            <a:ext cx="10972800" cy="868680"/>
          </a:xfrm>
          <a:prstGeom prst="rect">
            <a:avLst/>
          </a:prstGeom>
          <a:noFill/>
        </p:spPr>
        <p:txBody>
          <a:bodyPr wrap="square" anchor="t">
            <a:spAutoFit/>
          </a:bodyPr>
          <a:lstStyle/>
          <a:p>
            <a:pPr algn="l"/>
            <a:r>
              <a:rPr sz="1400" b="1">
                <a:solidFill>
                  <a:srgbClr val="16A34A"/>
                </a:solidFill>
                <a:latin typeface="Segoe UI"/>
              </a:rPr>
              <a:t>Tự động hóa: </a:t>
            </a:r>
            <a:r>
              <a:rPr sz="1300" b="0">
                <a:solidFill>
                  <a:srgbClr val="0F172A"/>
                </a:solidFill>
                <a:latin typeface="Segoe UI"/>
              </a:rPr>
              <a:t>GitHub Actions chạy cron 07:00 mỗi ngày — tự cào ItViec, kiểm tra 5 quality-check, commit dữ liệu ngược repo. </a:t>
            </a:r>
          </a:p>
          <a:p>
            <a:pPr algn="l"/>
            <a:r>
              <a:rPr sz="1400" b="1">
                <a:solidFill>
                  <a:srgbClr val="16A34A"/>
                </a:solidFill>
                <a:latin typeface="Segoe UI"/>
              </a:rPr>
              <a:t>Làm sạch: </a:t>
            </a:r>
            <a:r>
              <a:rPr sz="1300" b="0">
                <a:solidFill>
                  <a:srgbClr val="0F172A"/>
                </a:solidFill>
                <a:latin typeface="Segoe UI"/>
              </a:rPr>
              <a:t>đổi tên cột → snake_case, khử trùng lặp, điền thiếu (categorical→Unknown, numeric→median), chuẩn hóa tên skill qua từ điển alias, winsorize lương để cắt ngoại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03  </a:t>
            </a:r>
            <a:r>
              <a:rPr sz="2600" b="1">
                <a:solidFill>
                  <a:srgbClr val="FFFFFF"/>
                </a:solidFill>
                <a:latin typeface="Segoe UI"/>
              </a:rPr>
              <a:t>Insight 1 — Ngôn ngữ lập trình được yêu cầu nhất</a:t>
            </a:r>
          </a:p>
        </p:txBody>
      </p:sp>
      <p:graphicFrame>
        <p:nvGraphicFramePr>
          <p:cNvPr id="5" name="Chart 4"/>
          <p:cNvGraphicFramePr>
            <a:graphicFrameLocks noGrp="1"/>
          </p:cNvGraphicFramePr>
          <p:nvPr/>
        </p:nvGraphicFramePr>
        <p:xfrm>
          <a:off x="457200" y="1280160"/>
          <a:ext cx="6949440" cy="5120640"/>
        </p:xfrm>
        <a:graphic>
          <a:graphicData uri="http://schemas.openxmlformats.org/drawingml/2006/chart">
            <c:chart xmlns:c="http://schemas.openxmlformats.org/drawingml/2006/chart" r:id="rId2"/>
          </a:graphicData>
        </a:graphic>
      </p:graphicFrame>
      <p:sp>
        <p:nvSpPr>
          <p:cNvPr id="6" name="Rectangle 5"/>
          <p:cNvSpPr/>
          <p:nvPr/>
        </p:nvSpPr>
        <p:spPr>
          <a:xfrm>
            <a:off x="7680960" y="1371600"/>
            <a:ext cx="4114800" cy="493776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554480"/>
            <a:ext cx="3749039" cy="4663440"/>
          </a:xfrm>
          <a:prstGeom prst="rect">
            <a:avLst/>
          </a:prstGeom>
          <a:noFill/>
        </p:spPr>
        <p:txBody>
          <a:bodyPr wrap="square" anchor="t">
            <a:spAutoFit/>
          </a:bodyPr>
          <a:lstStyle/>
          <a:p>
            <a:pPr algn="l"/>
            <a:r>
              <a:rPr sz="1700" b="1">
                <a:solidFill>
                  <a:srgbClr val="1E3A8A"/>
                </a:solidFill>
                <a:latin typeface="Segoe UI"/>
              </a:rPr>
              <a:t>Phát hiện chính</a:t>
            </a:r>
          </a:p>
          <a:p>
            <a:pPr algn="l"/>
            <a:r>
              <a:rPr sz="600" b="0">
                <a:solidFill>
                  <a:srgbClr val="0F172A"/>
                </a:solidFill>
                <a:latin typeface="Segoe UI"/>
              </a:rPr>
              <a:t/>
            </a:r>
          </a:p>
          <a:p>
            <a:pPr algn="l"/>
            <a:r>
              <a:rPr sz="1500" b="1">
                <a:solidFill>
                  <a:srgbClr val="0F172A"/>
                </a:solidFill>
                <a:latin typeface="Segoe UI"/>
              </a:rPr>
              <a:t>JavaScript #1</a:t>
            </a:r>
            <a:r>
              <a:rPr sz="1300" b="0">
                <a:solidFill>
                  <a:srgbClr val="64748B"/>
                </a:solidFill>
                <a:latin typeface="Segoe UI"/>
              </a:rPr>
              <a:t> — vẫn thống lĩnh web (58% muốn dùng).</a:t>
            </a:r>
          </a:p>
          <a:p>
            <a:pPr algn="l"/>
            <a:r>
              <a:rPr sz="1500" b="1">
                <a:solidFill>
                  <a:srgbClr val="16A34A"/>
                </a:solidFill>
                <a:latin typeface="Segoe UI"/>
              </a:rPr>
              <a:t>Python #2</a:t>
            </a:r>
            <a:r>
              <a:rPr sz="1300" b="0">
                <a:solidFill>
                  <a:srgbClr val="64748B"/>
                </a:solidFill>
                <a:latin typeface="Segoe UI"/>
              </a:rPr>
              <a:t> — ngôn ngữ DUY nhất trong top 4 vẫn tăng (+15%).</a:t>
            </a:r>
          </a:p>
          <a:p>
            <a:pPr algn="l"/>
            <a:r>
              <a:rPr sz="1500" b="1">
                <a:solidFill>
                  <a:srgbClr val="0F172A"/>
                </a:solidFill>
                <a:latin typeface="Segoe UI"/>
              </a:rPr>
              <a:t>SQL #3</a:t>
            </a:r>
            <a:r>
              <a:rPr sz="1300" b="0">
                <a:solidFill>
                  <a:srgbClr val="64748B"/>
                </a:solidFill>
                <a:latin typeface="Segoe UI"/>
              </a:rPr>
              <a:t> — kỹ năng nền tảng cho mọi vai trò dữ liệu.</a:t>
            </a:r>
          </a:p>
          <a:p>
            <a:pPr algn="l"/>
            <a:r>
              <a:rPr sz="800" b="0">
                <a:solidFill>
                  <a:srgbClr val="0F172A"/>
                </a:solidFill>
                <a:latin typeface="Segoe UI"/>
              </a:rPr>
              <a:t/>
            </a:r>
          </a:p>
          <a:p>
            <a:pPr algn="l"/>
            <a:r>
              <a:rPr sz="1500" b="1">
                <a:solidFill>
                  <a:srgbClr val="F59E0B"/>
                </a:solidFill>
                <a:latin typeface="Segoe UI"/>
              </a:rPr>
              <a:t>Hành động HR</a:t>
            </a:r>
          </a:p>
          <a:p>
            <a:pPr algn="l"/>
            <a:r>
              <a:rPr sz="1300" b="0">
                <a:solidFill>
                  <a:srgbClr val="0F172A"/>
                </a:solidFill>
                <a:latin typeface="Segoe UI"/>
              </a:rPr>
              <a:t>Tách rõ kỹ năng nền tảng (JS/SQL/Python) với kỹ năng tăng trưởng khi thiết kế curriculum &amp; JD.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04  </a:t>
            </a:r>
            <a:r>
              <a:rPr sz="2600" b="1">
                <a:solidFill>
                  <a:srgbClr val="FFFFFF"/>
                </a:solidFill>
                <a:latin typeface="Segoe UI"/>
              </a:rPr>
              <a:t>Insight 2 — Cơ sở dữ liệu &amp; IDE</a:t>
            </a:r>
          </a:p>
        </p:txBody>
      </p:sp>
      <p:graphicFrame>
        <p:nvGraphicFramePr>
          <p:cNvPr id="5" name="Chart 4"/>
          <p:cNvGraphicFramePr>
            <a:graphicFrameLocks noGrp="1"/>
          </p:cNvGraphicFramePr>
          <p:nvPr/>
        </p:nvGraphicFramePr>
        <p:xfrm>
          <a:off x="365760" y="1280160"/>
          <a:ext cx="5760720" cy="4846320"/>
        </p:xfrm>
        <a:graphic>
          <a:graphicData uri="http://schemas.openxmlformats.org/drawingml/2006/chart">
            <c:chart xmlns:c="http://schemas.openxmlformats.org/drawingml/2006/chart" r:id="rId2"/>
          </a:graphicData>
        </a:graphic>
      </p:graphicFrame>
      <p:graphicFrame>
        <p:nvGraphicFramePr>
          <p:cNvPr id="6" name="Chart 5"/>
          <p:cNvGraphicFramePr>
            <a:graphicFrameLocks noGrp="1"/>
          </p:cNvGraphicFramePr>
          <p:nvPr/>
        </p:nvGraphicFramePr>
        <p:xfrm>
          <a:off x="6309360" y="1280160"/>
          <a:ext cx="5486400" cy="4846320"/>
        </p:xfrm>
        <a:graphic>
          <a:graphicData uri="http://schemas.openxmlformats.org/drawingml/2006/chart">
            <c:chart xmlns:c="http://schemas.openxmlformats.org/drawingml/2006/chart" r:id="rId3"/>
          </a:graphicData>
        </a:graphic>
      </p:graphicFrame>
      <p:sp>
        <p:nvSpPr>
          <p:cNvPr id="7" name="TextBox 6"/>
          <p:cNvSpPr txBox="1"/>
          <p:nvPr/>
        </p:nvSpPr>
        <p:spPr>
          <a:xfrm>
            <a:off x="365760" y="6172200"/>
            <a:ext cx="11430000" cy="548640"/>
          </a:xfrm>
          <a:prstGeom prst="rect">
            <a:avLst/>
          </a:prstGeom>
          <a:noFill/>
        </p:spPr>
        <p:txBody>
          <a:bodyPr wrap="square" anchor="t">
            <a:spAutoFit/>
          </a:bodyPr>
          <a:lstStyle/>
          <a:p>
            <a:pPr algn="l"/>
            <a:r>
              <a:rPr sz="1300" b="1">
                <a:solidFill>
                  <a:srgbClr val="16A34A"/>
                </a:solidFill>
                <a:latin typeface="Segoe UI"/>
              </a:rPr>
              <a:t>PostgreSQL</a:t>
            </a:r>
            <a:r>
              <a:rPr sz="1200" b="0">
                <a:solidFill>
                  <a:srgbClr val="0F172A"/>
                </a:solidFill>
                <a:latin typeface="Segoe UI"/>
              </a:rPr>
              <a:t> vừa phổ biến vừa còn tăng (+5.6%) → chọn làm DB trục chính.  </a:t>
            </a:r>
            <a:r>
              <a:rPr sz="1300" b="1">
                <a:solidFill>
                  <a:srgbClr val="F59E0B"/>
                </a:solidFill>
                <a:latin typeface="Segoe UI"/>
              </a:rPr>
              <a:t>VS Code</a:t>
            </a:r>
            <a:r>
              <a:rPr sz="1200" b="0">
                <a:solidFill>
                  <a:srgbClr val="0F172A"/>
                </a:solidFill>
                <a:latin typeface="Segoe UI"/>
              </a:rPr>
              <a:t> chiếm ~55% mọi vai trò → IDE chuẩn onboarding.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05  </a:t>
            </a:r>
            <a:r>
              <a:rPr sz="2600" b="1">
                <a:solidFill>
                  <a:srgbClr val="FFFFFF"/>
                </a:solidFill>
                <a:latin typeface="Segoe UI"/>
              </a:rPr>
              <a:t>Phân tích Thống kê — Emerging vs Declining</a:t>
            </a:r>
          </a:p>
        </p:txBody>
      </p:sp>
      <p:sp>
        <p:nvSpPr>
          <p:cNvPr id="5" name="TextBox 4"/>
          <p:cNvSpPr txBox="1"/>
          <p:nvPr/>
        </p:nvSpPr>
        <p:spPr>
          <a:xfrm>
            <a:off x="10607040" y="146304"/>
            <a:ext cx="1371600" cy="731520"/>
          </a:xfrm>
          <a:prstGeom prst="rect">
            <a:avLst/>
          </a:prstGeom>
          <a:noFill/>
        </p:spPr>
        <p:txBody>
          <a:bodyPr wrap="square" anchor="ctr">
            <a:spAutoFit/>
          </a:bodyPr>
          <a:lstStyle/>
          <a:p>
            <a:pPr algn="r"/>
            <a:r>
              <a:rPr sz="1600" b="1">
                <a:solidFill>
                  <a:srgbClr val="F59E0B"/>
                </a:solidFill>
                <a:latin typeface="Segoe UI"/>
              </a:rPr>
              <a:t>50%</a:t>
            </a:r>
          </a:p>
        </p:txBody>
      </p:sp>
      <p:graphicFrame>
        <p:nvGraphicFramePr>
          <p:cNvPr id="6" name="Chart 5"/>
          <p:cNvGraphicFramePr>
            <a:graphicFrameLocks noGrp="1"/>
          </p:cNvGraphicFramePr>
          <p:nvPr/>
        </p:nvGraphicFramePr>
        <p:xfrm>
          <a:off x="457200" y="1280160"/>
          <a:ext cx="6949440" cy="5120640"/>
        </p:xfrm>
        <a:graphic>
          <a:graphicData uri="http://schemas.openxmlformats.org/drawingml/2006/chart">
            <c:chart xmlns:c="http://schemas.openxmlformats.org/drawingml/2006/chart" r:id="rId2"/>
          </a:graphicData>
        </a:graphic>
      </p:graphicFrame>
      <p:sp>
        <p:nvSpPr>
          <p:cNvPr id="7" name="Rectangle 6"/>
          <p:cNvSpPr/>
          <p:nvPr/>
        </p:nvSpPr>
        <p:spPr>
          <a:xfrm>
            <a:off x="7680960" y="1371600"/>
            <a:ext cx="4114800" cy="4937760"/>
          </a:xfrm>
          <a:prstGeom prst="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09560" y="1508760"/>
            <a:ext cx="3749039" cy="4754880"/>
          </a:xfrm>
          <a:prstGeom prst="rect">
            <a:avLst/>
          </a:prstGeom>
          <a:noFill/>
        </p:spPr>
        <p:txBody>
          <a:bodyPr wrap="square" anchor="t">
            <a:spAutoFit/>
          </a:bodyPr>
          <a:lstStyle/>
          <a:p>
            <a:pPr algn="l"/>
            <a:r>
              <a:rPr sz="1600" b="1">
                <a:solidFill>
                  <a:srgbClr val="1E3A8A"/>
                </a:solidFill>
                <a:latin typeface="Segoe UI"/>
              </a:rPr>
              <a:t>2 kỹ thuật thống kê</a:t>
            </a:r>
          </a:p>
          <a:p>
            <a:pPr algn="l"/>
            <a:r>
              <a:rPr sz="1300" b="1">
                <a:solidFill>
                  <a:srgbClr val="0F172A"/>
                </a:solidFill>
                <a:latin typeface="Segoe UI"/>
              </a:rPr>
              <a:t>1. Tần suất &amp; tỷ lệ: </a:t>
            </a:r>
            <a:r>
              <a:rPr sz="1200" b="0">
                <a:solidFill>
                  <a:srgbClr val="64748B"/>
                </a:solidFill>
                <a:latin typeface="Segoe UI"/>
              </a:rPr>
              <a:t>đếm lượt skill / tổng dev.</a:t>
            </a:r>
          </a:p>
          <a:p>
            <a:pPr algn="l"/>
            <a:r>
              <a:rPr sz="1300" b="1">
                <a:solidFill>
                  <a:srgbClr val="0F172A"/>
                </a:solidFill>
                <a:latin typeface="Segoe UI"/>
              </a:rPr>
              <a:t>2. Net-change &amp; growth %: </a:t>
            </a:r>
            <a:r>
              <a:rPr sz="1200" b="0">
                <a:solidFill>
                  <a:srgbClr val="64748B"/>
                </a:solidFill>
                <a:latin typeface="Segoe UI"/>
              </a:rPr>
              <a:t>(muốn − đang)/đang.</a:t>
            </a:r>
          </a:p>
          <a:p>
            <a:pPr algn="l"/>
            <a:r>
              <a:rPr sz="600" b="0">
                <a:solidFill>
                  <a:srgbClr val="0F172A"/>
                </a:solidFill>
                <a:latin typeface="Segoe UI"/>
              </a:rPr>
              <a:t/>
            </a:r>
          </a:p>
          <a:p>
            <a:pPr algn="l"/>
            <a:r>
              <a:rPr sz="1400" b="1">
                <a:solidFill>
                  <a:srgbClr val="16A34A"/>
                </a:solidFill>
                <a:latin typeface="Segoe UI"/>
              </a:rPr>
              <a:t>Tăng mạnh </a:t>
            </a:r>
            <a:r>
              <a:rPr sz="1300" b="1">
                <a:solidFill>
                  <a:srgbClr val="0F172A"/>
                </a:solidFill>
                <a:latin typeface="Segoe UI"/>
              </a:rPr>
              <a:t>(mở khóa mới):</a:t>
            </a:r>
          </a:p>
          <a:p>
            <a:pPr algn="l"/>
            <a:r>
              <a:rPr sz="1200" b="1">
                <a:solidFill>
                  <a:srgbClr val="16A34A"/>
                </a:solidFill>
                <a:latin typeface="Segoe UI"/>
              </a:rPr>
              <a:t>Rust +370% · Kotlin +153% · Go +148% · TypeScript +27%</a:t>
            </a:r>
          </a:p>
          <a:p>
            <a:pPr algn="l"/>
            <a:r>
              <a:rPr sz="400" b="0">
                <a:solidFill>
                  <a:srgbClr val="0F172A"/>
                </a:solidFill>
                <a:latin typeface="Segoe UI"/>
              </a:rPr>
              <a:t/>
            </a:r>
          </a:p>
          <a:p>
            <a:pPr algn="l"/>
            <a:r>
              <a:rPr sz="1400" b="1">
                <a:solidFill>
                  <a:srgbClr val="DC2626"/>
                </a:solidFill>
                <a:latin typeface="Segoe UI"/>
              </a:rPr>
              <a:t>Đi xuống </a:t>
            </a:r>
            <a:r>
              <a:rPr sz="1300" b="1">
                <a:solidFill>
                  <a:srgbClr val="0F172A"/>
                </a:solidFill>
                <a:latin typeface="Segoe UI"/>
              </a:rPr>
              <a:t>(không mở rộng):</a:t>
            </a:r>
          </a:p>
          <a:p>
            <a:pPr algn="l"/>
            <a:r>
              <a:rPr sz="1200" b="1">
                <a:solidFill>
                  <a:srgbClr val="DC2626"/>
                </a:solidFill>
                <a:latin typeface="Segoe UI"/>
              </a:rPr>
              <a:t>PHP −50% · Java −34% · Bash −33% · HTML/CSS −32%</a:t>
            </a:r>
          </a:p>
          <a:p>
            <a:pPr algn="l"/>
            <a:r>
              <a:rPr sz="600" b="0">
                <a:solidFill>
                  <a:srgbClr val="0F172A"/>
                </a:solidFill>
                <a:latin typeface="Segoe UI"/>
              </a:rPr>
              <a:t/>
            </a:r>
          </a:p>
          <a:p>
            <a:pPr algn="l"/>
            <a:r>
              <a:rPr sz="1200" b="0">
                <a:solidFill>
                  <a:srgbClr val="0F172A"/>
                </a:solidFill>
                <a:latin typeface="Segoe UI"/>
              </a:rPr>
              <a:t>→ VTI không nên mở thêm khóa PHP; nên mở Rust/Go/TypeScript.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06  </a:t>
            </a:r>
            <a:r>
              <a:rPr sz="2600" b="1">
                <a:solidFill>
                  <a:srgbClr val="FFFFFF"/>
                </a:solidFill>
                <a:latin typeface="Segoe UI"/>
              </a:rPr>
              <a:t>Insight 3 — Lương vs Tăng trưởng → chọn skill 'vàng'</a:t>
            </a:r>
          </a:p>
        </p:txBody>
      </p:sp>
      <p:graphicFrame>
        <p:nvGraphicFramePr>
          <p:cNvPr id="5" name="Chart 4"/>
          <p:cNvGraphicFramePr>
            <a:graphicFrameLocks noGrp="1"/>
          </p:cNvGraphicFramePr>
          <p:nvPr/>
        </p:nvGraphicFramePr>
        <p:xfrm>
          <a:off x="457200" y="1280160"/>
          <a:ext cx="6949440" cy="5120640"/>
        </p:xfrm>
        <a:graphic>
          <a:graphicData uri="http://schemas.openxmlformats.org/drawingml/2006/chart">
            <c:chart xmlns:c="http://schemas.openxmlformats.org/drawingml/2006/chart" r:id="rId2"/>
          </a:graphicData>
        </a:graphic>
      </p:graphicFrame>
      <p:sp>
        <p:nvSpPr>
          <p:cNvPr id="6" name="Rectangle 5"/>
          <p:cNvSpPr/>
          <p:nvPr/>
        </p:nvSpPr>
        <p:spPr>
          <a:xfrm>
            <a:off x="7680960" y="1371600"/>
            <a:ext cx="4114800" cy="4937760"/>
          </a:xfrm>
          <a:prstGeom prst="rect">
            <a:avLst/>
          </a:prstGeom>
          <a:solidFill>
            <a:srgbClr val="FFFFFF"/>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09560" y="1554480"/>
            <a:ext cx="3749039" cy="4663440"/>
          </a:xfrm>
          <a:prstGeom prst="rect">
            <a:avLst/>
          </a:prstGeom>
          <a:noFill/>
        </p:spPr>
        <p:txBody>
          <a:bodyPr wrap="square" anchor="t">
            <a:spAutoFit/>
          </a:bodyPr>
          <a:lstStyle/>
          <a:p>
            <a:pPr algn="l"/>
            <a:r>
              <a:rPr sz="1600" b="1">
                <a:solidFill>
                  <a:srgbClr val="1E3A8A"/>
                </a:solidFill>
                <a:latin typeface="Segoe UI"/>
              </a:rPr>
              <a:t>Giao 3 tín hiệu</a:t>
            </a:r>
            <a:r>
              <a:rPr sz="1200" b="0">
                <a:solidFill>
                  <a:srgbClr val="64748B"/>
                </a:solidFill>
                <a:latin typeface="Segoe UI"/>
              </a:rPr>
              <a:t> = lương + tăng trưởng + nhu cầu</a:t>
            </a:r>
          </a:p>
          <a:p>
            <a:pPr algn="l"/>
            <a:r>
              <a:rPr sz="600" b="0">
                <a:solidFill>
                  <a:srgbClr val="0F172A"/>
                </a:solidFill>
                <a:latin typeface="Segoe UI"/>
              </a:rPr>
              <a:t/>
            </a:r>
          </a:p>
          <a:p>
            <a:pPr algn="l"/>
            <a:r>
              <a:rPr sz="1400" b="1">
                <a:solidFill>
                  <a:srgbClr val="16A34A"/>
                </a:solidFill>
                <a:latin typeface="Segoe UI"/>
              </a:rPr>
              <a:t>Go</a:t>
            </a:r>
            <a:r>
              <a:rPr sz="1200" b="0">
                <a:solidFill>
                  <a:srgbClr val="0F172A"/>
                </a:solidFill>
                <a:latin typeface="Segoe UI"/>
              </a:rPr>
              <a:t>: $80k + tăng 148% → </a:t>
            </a:r>
            <a:r>
              <a:rPr sz="1200" b="1">
                <a:solidFill>
                  <a:srgbClr val="16A34A"/>
                </a:solidFill>
                <a:latin typeface="Segoe UI"/>
              </a:rPr>
              <a:t>skill vàng</a:t>
            </a:r>
          </a:p>
          <a:p>
            <a:pPr algn="l"/>
            <a:r>
              <a:rPr sz="1400" b="1">
                <a:solidFill>
                  <a:srgbClr val="16A34A"/>
                </a:solidFill>
                <a:latin typeface="Segoe UI"/>
              </a:rPr>
              <a:t>Rust</a:t>
            </a:r>
            <a:r>
              <a:rPr sz="1200" b="0">
                <a:solidFill>
                  <a:srgbClr val="0F172A"/>
                </a:solidFill>
                <a:latin typeface="Segoe UI"/>
              </a:rPr>
              <a:t>: $70k + tăng 370% → đón đầu</a:t>
            </a:r>
          </a:p>
          <a:p>
            <a:pPr algn="l"/>
            <a:r>
              <a:rPr sz="1400" b="1">
                <a:solidFill>
                  <a:srgbClr val="16A34A"/>
                </a:solidFill>
                <a:latin typeface="Segoe UI"/>
              </a:rPr>
              <a:t>TypeScript</a:t>
            </a:r>
            <a:r>
              <a:rPr sz="1200" b="0">
                <a:solidFill>
                  <a:srgbClr val="0F172A"/>
                </a:solidFill>
                <a:latin typeface="Segoe UI"/>
              </a:rPr>
              <a:t>: $60k + tăng 27% → mass-market</a:t>
            </a:r>
          </a:p>
          <a:p>
            <a:pPr algn="l"/>
            <a:r>
              <a:rPr sz="1400" b="1">
                <a:solidFill>
                  <a:srgbClr val="2563EB"/>
                </a:solidFill>
                <a:latin typeface="Segoe UI"/>
              </a:rPr>
              <a:t>Python</a:t>
            </a:r>
            <a:r>
              <a:rPr sz="1200" b="0">
                <a:solidFill>
                  <a:srgbClr val="0F172A"/>
                </a:solidFill>
                <a:latin typeface="Segoe UI"/>
              </a:rPr>
              <a:t>: $64k + tăng 15% → nền data/AI</a:t>
            </a:r>
          </a:p>
          <a:p>
            <a:pPr algn="l"/>
            <a:r>
              <a:rPr sz="600" b="0">
                <a:solidFill>
                  <a:srgbClr val="0F172A"/>
                </a:solidFill>
                <a:latin typeface="Segoe UI"/>
              </a:rPr>
              <a:t/>
            </a:r>
          </a:p>
          <a:p>
            <a:pPr algn="l"/>
            <a:r>
              <a:rPr sz="1300" b="1">
                <a:solidFill>
                  <a:srgbClr val="DC2626"/>
                </a:solidFill>
                <a:latin typeface="Segoe UI"/>
              </a:rPr>
              <a:t>Lưu ý: </a:t>
            </a:r>
            <a:r>
              <a:rPr sz="1200" b="0">
                <a:solidFill>
                  <a:srgbClr val="64748B"/>
                </a:solidFill>
                <a:latin typeface="Segoe UI"/>
              </a:rPr>
              <a:t>lương tự khai, có ngoại lai → dùng TRUNG VỊ kèm cỡ mẫu, winsorize ở mức $300k.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07  </a:t>
            </a:r>
            <a:r>
              <a:rPr sz="2600" b="1">
                <a:solidFill>
                  <a:srgbClr val="FFFFFF"/>
                </a:solidFill>
                <a:latin typeface="Segoe UI"/>
              </a:rPr>
              <a:t>Power BI Dashboard — Trang 1: Tổng quan</a:t>
            </a:r>
          </a:p>
        </p:txBody>
      </p:sp>
      <p:sp>
        <p:nvSpPr>
          <p:cNvPr id="5" name="Rectangle 4"/>
          <p:cNvSpPr/>
          <p:nvPr/>
        </p:nvSpPr>
        <p:spPr>
          <a:xfrm>
            <a:off x="457200" y="1234440"/>
            <a:ext cx="2103120" cy="100584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25880"/>
            <a:ext cx="2103120" cy="868680"/>
          </a:xfrm>
          <a:prstGeom prst="rect">
            <a:avLst/>
          </a:prstGeom>
          <a:noFill/>
        </p:spPr>
        <p:txBody>
          <a:bodyPr wrap="square" anchor="ctr">
            <a:spAutoFit/>
          </a:bodyPr>
          <a:lstStyle/>
          <a:p>
            <a:pPr algn="ctr"/>
            <a:r>
              <a:rPr sz="2200" b="1">
                <a:solidFill>
                  <a:srgbClr val="1E3A8A"/>
                </a:solidFill>
                <a:latin typeface="Segoe UI"/>
              </a:rPr>
              <a:t>11.552</a:t>
            </a:r>
          </a:p>
          <a:p>
            <a:pPr algn="ctr"/>
            <a:r>
              <a:rPr sz="1200" b="0">
                <a:solidFill>
                  <a:srgbClr val="64748B"/>
                </a:solidFill>
                <a:latin typeface="Segoe UI"/>
              </a:rPr>
              <a:t>Developers</a:t>
            </a:r>
          </a:p>
        </p:txBody>
      </p:sp>
      <p:sp>
        <p:nvSpPr>
          <p:cNvPr id="7" name="Rectangle 6"/>
          <p:cNvSpPr/>
          <p:nvPr/>
        </p:nvSpPr>
        <p:spPr>
          <a:xfrm>
            <a:off x="2743200" y="1234440"/>
            <a:ext cx="2103120" cy="100584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0" y="1325880"/>
            <a:ext cx="2103120" cy="868680"/>
          </a:xfrm>
          <a:prstGeom prst="rect">
            <a:avLst/>
          </a:prstGeom>
          <a:noFill/>
        </p:spPr>
        <p:txBody>
          <a:bodyPr wrap="square" anchor="ctr">
            <a:spAutoFit/>
          </a:bodyPr>
          <a:lstStyle/>
          <a:p>
            <a:pPr algn="ctr"/>
            <a:r>
              <a:rPr sz="2200" b="1">
                <a:solidFill>
                  <a:srgbClr val="1E3A8A"/>
                </a:solidFill>
                <a:latin typeface="Segoe UI"/>
              </a:rPr>
              <a:t>135</a:t>
            </a:r>
          </a:p>
          <a:p>
            <a:pPr algn="ctr"/>
            <a:r>
              <a:rPr sz="1200" b="0">
                <a:solidFill>
                  <a:srgbClr val="64748B"/>
                </a:solidFill>
                <a:latin typeface="Segoe UI"/>
              </a:rPr>
              <a:t>Quốc gia</a:t>
            </a:r>
          </a:p>
        </p:txBody>
      </p:sp>
      <p:sp>
        <p:nvSpPr>
          <p:cNvPr id="9" name="Rectangle 8"/>
          <p:cNvSpPr/>
          <p:nvPr/>
        </p:nvSpPr>
        <p:spPr>
          <a:xfrm>
            <a:off x="5029200" y="1234440"/>
            <a:ext cx="2103120" cy="100584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1325880"/>
            <a:ext cx="2103120" cy="868680"/>
          </a:xfrm>
          <a:prstGeom prst="rect">
            <a:avLst/>
          </a:prstGeom>
          <a:noFill/>
        </p:spPr>
        <p:txBody>
          <a:bodyPr wrap="square" anchor="ctr">
            <a:spAutoFit/>
          </a:bodyPr>
          <a:lstStyle/>
          <a:p>
            <a:pPr algn="ctr"/>
            <a:r>
              <a:rPr sz="2200" b="1">
                <a:solidFill>
                  <a:srgbClr val="1E3A8A"/>
                </a:solidFill>
                <a:latin typeface="Segoe UI"/>
              </a:rPr>
              <a:t>$57.8k</a:t>
            </a:r>
          </a:p>
          <a:p>
            <a:pPr algn="ctr"/>
            <a:r>
              <a:rPr sz="1200" b="0">
                <a:solidFill>
                  <a:srgbClr val="64748B"/>
                </a:solidFill>
                <a:latin typeface="Segoe UI"/>
              </a:rPr>
              <a:t>Median salary</a:t>
            </a:r>
          </a:p>
        </p:txBody>
      </p:sp>
      <p:sp>
        <p:nvSpPr>
          <p:cNvPr id="11" name="Rectangle 10"/>
          <p:cNvSpPr/>
          <p:nvPr/>
        </p:nvSpPr>
        <p:spPr>
          <a:xfrm>
            <a:off x="7315200" y="1234440"/>
            <a:ext cx="2103120" cy="100584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1325880"/>
            <a:ext cx="2103120" cy="868680"/>
          </a:xfrm>
          <a:prstGeom prst="rect">
            <a:avLst/>
          </a:prstGeom>
          <a:noFill/>
        </p:spPr>
        <p:txBody>
          <a:bodyPr wrap="square" anchor="ctr">
            <a:spAutoFit/>
          </a:bodyPr>
          <a:lstStyle/>
          <a:p>
            <a:pPr algn="ctr"/>
            <a:r>
              <a:rPr sz="2200" b="1">
                <a:solidFill>
                  <a:srgbClr val="1E3A8A"/>
                </a:solidFill>
                <a:latin typeface="Segoe UI"/>
              </a:rPr>
              <a:t>4</a:t>
            </a:r>
          </a:p>
          <a:p>
            <a:pPr algn="ctr"/>
            <a:r>
              <a:rPr sz="1200" b="0">
                <a:solidFill>
                  <a:srgbClr val="64748B"/>
                </a:solidFill>
                <a:latin typeface="Segoe UI"/>
              </a:rPr>
              <a:t>Skill Emerging</a:t>
            </a:r>
          </a:p>
        </p:txBody>
      </p:sp>
      <p:sp>
        <p:nvSpPr>
          <p:cNvPr id="13" name="Rectangle 12"/>
          <p:cNvSpPr/>
          <p:nvPr/>
        </p:nvSpPr>
        <p:spPr>
          <a:xfrm>
            <a:off x="9601200" y="1234440"/>
            <a:ext cx="2103120" cy="100584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0" y="1325880"/>
            <a:ext cx="2103120" cy="868680"/>
          </a:xfrm>
          <a:prstGeom prst="rect">
            <a:avLst/>
          </a:prstGeom>
          <a:noFill/>
        </p:spPr>
        <p:txBody>
          <a:bodyPr wrap="square" anchor="ctr">
            <a:spAutoFit/>
          </a:bodyPr>
          <a:lstStyle/>
          <a:p>
            <a:pPr algn="ctr"/>
            <a:r>
              <a:rPr sz="2200" b="1">
                <a:solidFill>
                  <a:srgbClr val="1E3A8A"/>
                </a:solidFill>
                <a:latin typeface="Segoe UI"/>
              </a:rPr>
              <a:t>PostgreSQL</a:t>
            </a:r>
          </a:p>
          <a:p>
            <a:pPr algn="ctr"/>
            <a:r>
              <a:rPr sz="1200" b="0">
                <a:solidFill>
                  <a:srgbClr val="64748B"/>
                </a:solidFill>
                <a:latin typeface="Segoe UI"/>
              </a:rPr>
              <a:t>DB trục chính</a:t>
            </a:r>
          </a:p>
        </p:txBody>
      </p:sp>
      <p:graphicFrame>
        <p:nvGraphicFramePr>
          <p:cNvPr id="15" name="Chart 14"/>
          <p:cNvGraphicFramePr>
            <a:graphicFrameLocks noGrp="1"/>
          </p:cNvGraphicFramePr>
          <p:nvPr/>
        </p:nvGraphicFramePr>
        <p:xfrm>
          <a:off x="457200" y="2468880"/>
          <a:ext cx="5486400" cy="3840480"/>
        </p:xfrm>
        <a:graphic>
          <a:graphicData uri="http://schemas.openxmlformats.org/drawingml/2006/chart">
            <c:chart xmlns:c="http://schemas.openxmlformats.org/drawingml/2006/chart" r:id="rId2"/>
          </a:graphicData>
        </a:graphic>
      </p:graphicFrame>
      <p:graphicFrame>
        <p:nvGraphicFramePr>
          <p:cNvPr id="16" name="Chart 15"/>
          <p:cNvGraphicFramePr>
            <a:graphicFrameLocks noGrp="1"/>
          </p:cNvGraphicFramePr>
          <p:nvPr/>
        </p:nvGraphicFramePr>
        <p:xfrm>
          <a:off x="6217920" y="2468880"/>
          <a:ext cx="5486400" cy="3840480"/>
        </p:xfrm>
        <a:graphic>
          <a:graphicData uri="http://schemas.openxmlformats.org/drawingml/2006/chart">
            <c:chart xmlns:c="http://schemas.openxmlformats.org/drawingml/2006/chart" r:id="rId3"/>
          </a:graphicData>
        </a:graphic>
      </p:graphicFrame>
      <p:sp>
        <p:nvSpPr>
          <p:cNvPr id="17" name="TextBox 16"/>
          <p:cNvSpPr txBox="1"/>
          <p:nvPr/>
        </p:nvSpPr>
        <p:spPr>
          <a:xfrm>
            <a:off x="457200" y="6355080"/>
            <a:ext cx="10972800" cy="365760"/>
          </a:xfrm>
          <a:prstGeom prst="rect">
            <a:avLst/>
          </a:prstGeom>
          <a:noFill/>
        </p:spPr>
        <p:txBody>
          <a:bodyPr wrap="square" anchor="t">
            <a:spAutoFit/>
          </a:bodyPr>
          <a:lstStyle/>
          <a:p>
            <a:pPr algn="l"/>
            <a:r>
              <a:rPr sz="1200" b="1">
                <a:solidFill>
                  <a:srgbClr val="F59E0B"/>
                </a:solidFill>
                <a:latin typeface="Segoe UI"/>
              </a:rPr>
              <a:t>Slicers tương tác: </a:t>
            </a:r>
            <a:r>
              <a:rPr sz="1100" b="0">
                <a:solidFill>
                  <a:srgbClr val="64748B"/>
                </a:solidFill>
                <a:latin typeface="Segoe UI"/>
              </a:rPr>
              <a:t>Country · Signal (Emerging/Stable/Declining) — 5 KPI cards + 2 chart + 2 slicer (đạt yêu cầu tối thiểu).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08  </a:t>
            </a:r>
            <a:r>
              <a:rPr sz="2600" b="1">
                <a:solidFill>
                  <a:srgbClr val="FFFFFF"/>
                </a:solidFill>
                <a:latin typeface="Segoe UI"/>
              </a:rPr>
              <a:t>Power BI Dashboard — Trang 2: Deep Dive theo vai trò</a:t>
            </a:r>
          </a:p>
        </p:txBody>
      </p:sp>
      <p:graphicFrame>
        <p:nvGraphicFramePr>
          <p:cNvPr id="5" name="Chart 4"/>
          <p:cNvGraphicFramePr>
            <a:graphicFrameLocks noGrp="1"/>
          </p:cNvGraphicFramePr>
          <p:nvPr/>
        </p:nvGraphicFramePr>
        <p:xfrm>
          <a:off x="457200" y="1280160"/>
          <a:ext cx="6766560" cy="5029200"/>
        </p:xfrm>
        <a:graphic>
          <a:graphicData uri="http://schemas.openxmlformats.org/drawingml/2006/chart">
            <c:chart xmlns:c="http://schemas.openxmlformats.org/drawingml/2006/chart" r:id="rId2"/>
          </a:graphicData>
        </a:graphic>
      </p:graphicFrame>
      <p:sp>
        <p:nvSpPr>
          <p:cNvPr id="6" name="Rectangle 5"/>
          <p:cNvSpPr/>
          <p:nvPr/>
        </p:nvSpPr>
        <p:spPr>
          <a:xfrm>
            <a:off x="7498079" y="1371600"/>
            <a:ext cx="4297680" cy="4937760"/>
          </a:xfrm>
          <a:prstGeom prst="rect">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554480"/>
            <a:ext cx="3931920" cy="4663440"/>
          </a:xfrm>
          <a:prstGeom prst="rect">
            <a:avLst/>
          </a:prstGeom>
          <a:noFill/>
        </p:spPr>
        <p:txBody>
          <a:bodyPr wrap="square" anchor="t">
            <a:spAutoFit/>
          </a:bodyPr>
          <a:lstStyle/>
          <a:p>
            <a:pPr algn="l"/>
            <a:r>
              <a:rPr sz="1600" b="1">
                <a:solidFill>
                  <a:srgbClr val="1E3A8A"/>
                </a:solidFill>
                <a:latin typeface="Segoe UI"/>
              </a:rPr>
              <a:t>Đọc dashboard</a:t>
            </a:r>
          </a:p>
          <a:p>
            <a:pPr algn="l"/>
            <a:r>
              <a:rPr sz="400" b="0">
                <a:solidFill>
                  <a:srgbClr val="0F172A"/>
                </a:solidFill>
                <a:latin typeface="Segoe UI"/>
              </a:rPr>
              <a:t/>
            </a:r>
          </a:p>
          <a:p>
            <a:pPr algn="l"/>
            <a:r>
              <a:rPr sz="1300" b="1">
                <a:solidFill>
                  <a:srgbClr val="DC2626"/>
                </a:solidFill>
                <a:latin typeface="Segoe UI"/>
              </a:rPr>
              <a:t>Priority 1 </a:t>
            </a:r>
            <a:r>
              <a:rPr sz="1200" b="0">
                <a:solidFill>
                  <a:srgbClr val="0F172A"/>
                </a:solidFill>
                <a:latin typeface="Segoe UI"/>
              </a:rPr>
              <a:t>Full-stack — pipeline lõi.</a:t>
            </a:r>
          </a:p>
          <a:p>
            <a:pPr algn="l"/>
            <a:r>
              <a:rPr sz="1300" b="1">
                <a:solidFill>
                  <a:srgbClr val="F59E0B"/>
                </a:solidFill>
                <a:latin typeface="Segoe UI"/>
              </a:rPr>
              <a:t>Priority 2 </a:t>
            </a:r>
            <a:r>
              <a:rPr sz="1200" b="0">
                <a:solidFill>
                  <a:srgbClr val="0F172A"/>
                </a:solidFill>
                <a:latin typeface="Segoe UI"/>
              </a:rPr>
              <a:t>Back-end, DevOps, Front-end.</a:t>
            </a:r>
          </a:p>
          <a:p>
            <a:pPr algn="l"/>
            <a:r>
              <a:rPr sz="1300" b="1">
                <a:solidFill>
                  <a:srgbClr val="64748B"/>
                </a:solidFill>
                <a:latin typeface="Segoe UI"/>
              </a:rPr>
              <a:t>Priority 3 </a:t>
            </a:r>
            <a:r>
              <a:rPr sz="1200" b="0">
                <a:solidFill>
                  <a:srgbClr val="0F172A"/>
                </a:solidFill>
                <a:latin typeface="Segoe UI"/>
              </a:rPr>
              <a:t>Data, Mobile — tuyển theo nhu cầu.</a:t>
            </a:r>
          </a:p>
          <a:p>
            <a:pPr algn="l"/>
            <a:r>
              <a:rPr sz="600" b="0">
                <a:solidFill>
                  <a:srgbClr val="0F172A"/>
                </a:solidFill>
                <a:latin typeface="Segoe UI"/>
              </a:rPr>
              <a:t/>
            </a:r>
          </a:p>
          <a:p>
            <a:pPr algn="l"/>
            <a:r>
              <a:rPr sz="1400" b="1">
                <a:solidFill>
                  <a:srgbClr val="F59E0B"/>
                </a:solidFill>
                <a:latin typeface="Segoe UI"/>
              </a:rPr>
              <a:t>Tính năng tương tác:</a:t>
            </a:r>
          </a:p>
          <a:p>
            <a:pPr algn="l"/>
            <a:r>
              <a:rPr sz="1200" b="0">
                <a:solidFill>
                  <a:srgbClr val="0F172A"/>
                </a:solidFill>
                <a:latin typeface="Segoe UI"/>
              </a:rPr>
              <a:t>• Slicer Country &amp; Signal</a:t>
            </a:r>
          </a:p>
          <a:p>
            <a:pPr algn="l"/>
            <a:r>
              <a:rPr sz="1200" b="0">
                <a:solidFill>
                  <a:srgbClr val="0F172A"/>
                </a:solidFill>
                <a:latin typeface="Segoe UI"/>
              </a:rPr>
              <a:t>• Heatmap IDE × vai trò</a:t>
            </a:r>
          </a:p>
          <a:p>
            <a:pPr algn="l"/>
            <a:r>
              <a:rPr sz="1200" b="0">
                <a:solidFill>
                  <a:srgbClr val="0F172A"/>
                </a:solidFill>
                <a:latin typeface="Segoe UI"/>
              </a:rPr>
              <a:t>• Drill-through skill → công ty ItViec đang tuyển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50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
            <a:ext cx="10515600" cy="731520"/>
          </a:xfrm>
          <a:prstGeom prst="rect">
            <a:avLst/>
          </a:prstGeom>
          <a:noFill/>
        </p:spPr>
        <p:txBody>
          <a:bodyPr wrap="square" anchor="ctr">
            <a:spAutoFit/>
          </a:bodyPr>
          <a:lstStyle/>
          <a:p>
            <a:pPr algn="l"/>
            <a:r>
              <a:rPr sz="2600" b="1">
                <a:solidFill>
                  <a:srgbClr val="F59E0B"/>
                </a:solidFill>
                <a:latin typeface="Segoe UI"/>
              </a:rPr>
              <a:t>09  </a:t>
            </a:r>
            <a:r>
              <a:rPr sz="2600" b="1">
                <a:solidFill>
                  <a:srgbClr val="FFFFFF"/>
                </a:solidFill>
                <a:latin typeface="Segoe UI"/>
              </a:rPr>
              <a:t>Kiến nghị Chiến lược cho VTI Academy</a:t>
            </a:r>
          </a:p>
        </p:txBody>
      </p:sp>
      <p:sp>
        <p:nvSpPr>
          <p:cNvPr id="5" name="TextBox 4"/>
          <p:cNvSpPr txBox="1"/>
          <p:nvPr/>
        </p:nvSpPr>
        <p:spPr>
          <a:xfrm>
            <a:off x="10607040" y="146304"/>
            <a:ext cx="1371600" cy="731520"/>
          </a:xfrm>
          <a:prstGeom prst="rect">
            <a:avLst/>
          </a:prstGeom>
          <a:noFill/>
        </p:spPr>
        <p:txBody>
          <a:bodyPr wrap="square" anchor="ctr">
            <a:spAutoFit/>
          </a:bodyPr>
          <a:lstStyle/>
          <a:p>
            <a:pPr algn="r"/>
            <a:r>
              <a:rPr sz="1600" b="1">
                <a:solidFill>
                  <a:srgbClr val="F59E0B"/>
                </a:solidFill>
                <a:latin typeface="Segoe UI"/>
              </a:rPr>
              <a:t>10%</a:t>
            </a:r>
          </a:p>
        </p:txBody>
      </p:sp>
      <p:sp>
        <p:nvSpPr>
          <p:cNvPr id="6" name="Rectangle 5"/>
          <p:cNvSpPr/>
          <p:nvPr/>
        </p:nvSpPr>
        <p:spPr>
          <a:xfrm>
            <a:off x="457200" y="1280160"/>
            <a:ext cx="11247120" cy="1508760"/>
          </a:xfrm>
          <a:prstGeom prst="rect">
            <a:avLst/>
          </a:prstGeom>
          <a:solidFill>
            <a:srgbClr val="FFFFFF"/>
          </a:solidFill>
          <a:ln w="127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80160"/>
            <a:ext cx="137160" cy="150876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389888"/>
            <a:ext cx="10698480" cy="1371600"/>
          </a:xfrm>
          <a:prstGeom prst="rect">
            <a:avLst/>
          </a:prstGeom>
          <a:noFill/>
        </p:spPr>
        <p:txBody>
          <a:bodyPr wrap="square" anchor="t">
            <a:spAutoFit/>
          </a:bodyPr>
          <a:lstStyle/>
          <a:p>
            <a:pPr algn="l"/>
            <a:r>
              <a:rPr sz="1600" b="1">
                <a:solidFill>
                  <a:srgbClr val="16A34A"/>
                </a:solidFill>
                <a:latin typeface="Segoe UI"/>
              </a:rPr>
              <a:t>1. Ngắn hạn (quý này): </a:t>
            </a:r>
            <a:r>
              <a:rPr sz="1500" b="1">
                <a:solidFill>
                  <a:srgbClr val="0F172A"/>
                </a:solidFill>
                <a:latin typeface="Segoe UI"/>
              </a:rPr>
              <a:t>Mở track Cloud &amp; DevOps (Docker/Kubernetes/AWS) + Python for Data</a:t>
            </a:r>
          </a:p>
          <a:p>
            <a:pPr algn="l"/>
            <a:r>
              <a:rPr sz="1200" b="1">
                <a:solidFill>
                  <a:srgbClr val="64748B"/>
                </a:solidFill>
                <a:latin typeface="Segoe UI"/>
              </a:rPr>
              <a:t>Lý do: </a:t>
            </a:r>
            <a:r>
              <a:rPr sz="1200" b="0">
                <a:solidFill>
                  <a:srgbClr val="64748B"/>
                </a:solidFill>
                <a:latin typeface="Segoe UI"/>
              </a:rPr>
              <a:t>Cloud/DevOps median salary cao nhất ($71k) và Elasticsearch/Redis tăng trưởng 30-46%. Cầu lớn, cung còn ít -&gt; học viên ra trường có việc ngay.</a:t>
            </a:r>
          </a:p>
        </p:txBody>
      </p:sp>
      <p:sp>
        <p:nvSpPr>
          <p:cNvPr id="9" name="Rectangle 8"/>
          <p:cNvSpPr/>
          <p:nvPr/>
        </p:nvSpPr>
        <p:spPr>
          <a:xfrm>
            <a:off x="457200" y="2971800"/>
            <a:ext cx="11247120" cy="1508760"/>
          </a:xfrm>
          <a:prstGeom prst="rect">
            <a:avLst/>
          </a:prstGeom>
          <a:solidFill>
            <a:srgbClr val="FFFFFF"/>
          </a:solidFill>
          <a:ln w="1270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71800"/>
            <a:ext cx="137160" cy="150876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81528"/>
            <a:ext cx="10698480" cy="1371600"/>
          </a:xfrm>
          <a:prstGeom prst="rect">
            <a:avLst/>
          </a:prstGeom>
          <a:noFill/>
        </p:spPr>
        <p:txBody>
          <a:bodyPr wrap="square" anchor="t">
            <a:spAutoFit/>
          </a:bodyPr>
          <a:lstStyle/>
          <a:p>
            <a:pPr algn="l"/>
            <a:r>
              <a:rPr sz="1600" b="1">
                <a:solidFill>
                  <a:srgbClr val="2563EB"/>
                </a:solidFill>
                <a:latin typeface="Segoe UI"/>
              </a:rPr>
              <a:t>2. Trung hạn (6 tháng): </a:t>
            </a:r>
            <a:r>
              <a:rPr sz="1500" b="1">
                <a:solidFill>
                  <a:srgbClr val="0F172A"/>
                </a:solidFill>
                <a:latin typeface="Segoe UI"/>
              </a:rPr>
              <a:t>Đưa TypeScript, Go, Kotlin, Rust vào lộ trình nâng cao</a:t>
            </a:r>
          </a:p>
          <a:p>
            <a:pPr algn="l"/>
            <a:r>
              <a:rPr sz="1200" b="1">
                <a:solidFill>
                  <a:srgbClr val="64748B"/>
                </a:solidFill>
                <a:latin typeface="Segoe UI"/>
              </a:rPr>
              <a:t>Lý do: </a:t>
            </a:r>
            <a:r>
              <a:rPr sz="1200" b="0">
                <a:solidFill>
                  <a:srgbClr val="64748B"/>
                </a:solidFill>
                <a:latin typeface="Segoe UI"/>
              </a:rPr>
              <a:t>Net-change muốn-dùng dương lớn: Rust +370%, Kotlin +153%, Go +148%, TypeScript +27%. Đón đầu xu hướng 2-3 năm tới.</a:t>
            </a:r>
          </a:p>
        </p:txBody>
      </p:sp>
      <p:sp>
        <p:nvSpPr>
          <p:cNvPr id="12" name="Rectangle 11"/>
          <p:cNvSpPr/>
          <p:nvPr/>
        </p:nvSpPr>
        <p:spPr>
          <a:xfrm>
            <a:off x="457200" y="4663440"/>
            <a:ext cx="11247120" cy="1508760"/>
          </a:xfrm>
          <a:prstGeom prst="rect">
            <a:avLst/>
          </a:prstGeom>
          <a:solidFill>
            <a:srgbClr val="FFFFFF"/>
          </a:solidFill>
          <a:ln w="12700">
            <a:solidFill>
              <a:srgbClr val="1E3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663440"/>
            <a:ext cx="137160" cy="1508760"/>
          </a:xfrm>
          <a:prstGeom prst="rect">
            <a:avLst/>
          </a:prstGeom>
          <a:solidFill>
            <a:srgbClr val="1E3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773168"/>
            <a:ext cx="10698480" cy="1371600"/>
          </a:xfrm>
          <a:prstGeom prst="rect">
            <a:avLst/>
          </a:prstGeom>
          <a:noFill/>
        </p:spPr>
        <p:txBody>
          <a:bodyPr wrap="square" anchor="t">
            <a:spAutoFit/>
          </a:bodyPr>
          <a:lstStyle/>
          <a:p>
            <a:pPr algn="l"/>
            <a:r>
              <a:rPr sz="1600" b="1">
                <a:solidFill>
                  <a:srgbClr val="1E3A8A"/>
                </a:solidFill>
                <a:latin typeface="Segoe UI"/>
              </a:rPr>
              <a:t>3. Dài hạn (1 năm): </a:t>
            </a:r>
            <a:r>
              <a:rPr sz="1500" b="1">
                <a:solidFill>
                  <a:srgbClr val="0F172A"/>
                </a:solidFill>
                <a:latin typeface="Segoe UI"/>
              </a:rPr>
              <a:t>Lấy PostgreSQL + VS Code + Git làm nền chung cho mọi track và duy trì pipeline scraping ItViec để tái phân tích mỗi quý</a:t>
            </a:r>
          </a:p>
          <a:p>
            <a:pPr algn="l"/>
            <a:r>
              <a:rPr sz="1200" b="1">
                <a:solidFill>
                  <a:srgbClr val="64748B"/>
                </a:solidFill>
                <a:latin typeface="Segoe UI"/>
              </a:rPr>
              <a:t>Lý do: </a:t>
            </a:r>
            <a:r>
              <a:rPr sz="1200" b="0">
                <a:solidFill>
                  <a:srgbClr val="64748B"/>
                </a:solidFill>
                <a:latin typeface="Segoe UI"/>
              </a:rPr>
              <a:t>VS Code thống lĩnh ~55% mọi vai trò; PostgreSQL vừa phổ biến vừa tăng. Thị trường đổi 6 tháng/lần -&gt; cần dữ liệu cập nhật liên tục.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E3A8A"/>
        </a:solidFill>
        <a:effectLst/>
      </p:bgPr>
    </p:bg>
    <p:spTree>
      <p:nvGrpSpPr>
        <p:cNvPr id="1" name=""/>
        <p:cNvGrpSpPr/>
        <p:nvPr/>
      </p:nvGrpSpPr>
      <p:grpSpPr/>
      <p:sp>
        <p:nvSpPr>
          <p:cNvPr id="2" name="Rectangle 1"/>
          <p:cNvSpPr/>
          <p:nvPr/>
        </p:nvSpPr>
        <p:spPr>
          <a:xfrm>
            <a:off x="0" y="3200400"/>
            <a:ext cx="12191695" cy="635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1097280"/>
          </a:xfrm>
          <a:prstGeom prst="rect">
            <a:avLst/>
          </a:prstGeom>
          <a:noFill/>
        </p:spPr>
        <p:txBody>
          <a:bodyPr wrap="square" anchor="t">
            <a:spAutoFit/>
          </a:bodyPr>
          <a:lstStyle/>
          <a:p>
            <a:pPr algn="ctr"/>
            <a:r>
              <a:rPr sz="4800" b="1">
                <a:solidFill>
                  <a:srgbClr val="FFFFFF"/>
                </a:solidFill>
                <a:latin typeface="Segoe UI"/>
              </a:rPr>
              <a:t>Cảm ơn &amp; Q&amp;A</a:t>
            </a:r>
          </a:p>
        </p:txBody>
      </p:sp>
      <p:sp>
        <p:nvSpPr>
          <p:cNvPr id="4" name="TextBox 3"/>
          <p:cNvSpPr txBox="1"/>
          <p:nvPr/>
        </p:nvSpPr>
        <p:spPr>
          <a:xfrm>
            <a:off x="731520" y="3474720"/>
            <a:ext cx="10698480" cy="1371600"/>
          </a:xfrm>
          <a:prstGeom prst="rect">
            <a:avLst/>
          </a:prstGeom>
          <a:noFill/>
        </p:spPr>
        <p:txBody>
          <a:bodyPr wrap="square" anchor="t">
            <a:spAutoFit/>
          </a:bodyPr>
          <a:lstStyle/>
          <a:p>
            <a:pPr algn="ctr"/>
            <a:r>
              <a:rPr sz="1600" b="0">
                <a:solidFill>
                  <a:srgbClr val="CBD5E1"/>
                </a:solidFill>
                <a:latin typeface="Segoe UI"/>
              </a:rPr>
              <a:t>Sản phẩm: Clean dataset · Python (scraping + wrangling) · SQL · Power BI · Slides</a:t>
            </a:r>
          </a:p>
          <a:p>
            <a:pPr algn="ctr"/>
            <a:r>
              <a:rPr sz="1500" b="1">
                <a:solidFill>
                  <a:srgbClr val="F59E0B"/>
                </a:solidFill>
                <a:latin typeface="Segoe UI"/>
              </a:rPr>
              <a:t>GitHub: github.com/quangnm0208/vti-course</a:t>
            </a:r>
          </a:p>
          <a:p>
            <a:pPr algn="ctr"/>
            <a:r>
              <a:rPr sz="1400" b="0">
                <a:solidFill>
                  <a:srgbClr val="FFFFFF"/>
                </a:solidFill>
                <a:latin typeface="Segoe UI"/>
              </a:rPr>
              <a:t>Email: quangnm0208@gmail.com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